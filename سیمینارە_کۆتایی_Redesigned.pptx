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بەخێربێن بۆ کۆرسی ژیری دەستکرد. ئەمڕۆ تیشک دەخەینە سەر بەکارهێنانی کردارییانەی AI لە ژیانی ڕۆژانە و سەرجەم سێکتەرەکانی کاردا.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دەربارەی پێشکەشکاری سیمینارەکە، ئەندازیار عبدالرحمن اسماعیل، پیشە، بڕوانامەکان و ئەزموونی کاری لە بواری تەکنەلۆجیادا.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خشتەی کۆرسەکە بە شێوازێک داڕێژراوە کە لە سادەترین بنەماوە دەستپێبکات تا عەمەلیترین دیزاین و کۆد.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ئامانجی سەرەکی ئەم بەشە ئەوەیە بەشداربووان تێبگەن AI جادوو نییە، بەڵکو تەکنەلۆجیایەکی شیکارییە.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بۆ هەر ئەرکێک ئامرازێکی گونجاو هەیە؛ بەکارهێنانی ئامرازی ڕاست خێرایی کارەکان دەقات دەکاتەوە.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ئەم بەشە گرنگترین بەشی کۆرسەکەیە! فێربوونی دروستکردنی پرۆمپت کۆنتڕۆڵی تەواوت دەداتێ.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بانکی نموونەکانی پرۆمپت پیشانی دەدات چۆن پرۆمپتەکان لە لاوازەوە دەگۆڕدرێن بۆ ناوەند و پاشان بۆ زۆر باش.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داڕشتنی پرۆمپت بەم ٥ بەشە دڵنیایی سەدا سەد دەدات لە وەرگرتنی وەڵامی دروست.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قوتابیان دەتوانن کاتی خوێندنەوەکەیان نیوە بکەنەوە و باشتر تێبگەن بەم workflow 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نموونەی پرۆمپتە ئاسایی و گونجاوەکان بۆ جۆرە جیاوازەکانی خوێندکاران و قوتابیان بۆ بەکارهێنانی کرداری بە زمانی کوردی.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مامۆستایان دەتوانن پرۆسەی ئامادەکردنی وانە و تاقیکردنەوەکان زۆر ئاسانتر بکەن.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نموونەی پرۆمپتە گرنگ و وزارییەکان بۆ مامۆستایانی هەرێمی کوردستان بۆ بەکارهێنانی کارایانەی AI لە ئامادەکردنی وانەکاندا.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خاوەنکاران دەتوانن کاتی چاودێری و بەڕێوەبردن کەم بکەنەوە و بە خێرایی بڕیاری ستراتیژی بدەن بەم workflow 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نموونەی پرۆمپتە کارگێڕی و پڕۆفیشناڵەکان بۆ خاوەنکاران و بەڕێوەبەران بۆ بەڕێوەبردنی باشتر و زیرەکتری تیم و بزنس.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ئەم بەشە زۆر سەرنجڕاکێشە چونکە خاوەن بزنسەکان فێردەبن چۆن تەواوی مارکێتینگ و پرۆسەکانیان ئۆتۆماتیک بکەن.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نموونەی پرۆمپتە گرنگەکانی مارکێتینگ و پەیوەندی بە کڕیارانەوە بۆ خاوەن بزنسەکان بۆ ئۆتۆماتیکردنی و بەرزکردنەوەی فرۆشتن بە کوردی.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گەشەپێدەران دەتوانن خێرایی کۆدنووسین و چاککردنی هەڵەکان بە ڕێژەی 3x زیاد بکەن.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کاتی پشوو و گۆڕینەوەی بیرۆکەکان. پاش گەڕانەوە دێینە سەر بەشە کردارییەکان.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ئامرازەکانی دیزاین بە AI دەرفەت دەدەن کەمپینی بێ وێنە بە کاتێکی کەم دروست بکرێت.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نموونەی پرۆمپتەکانی دروستکردنی وێنە و ئەنیمەیشنی جوڵاوی دڵی مرۆڤ بۆ زیندەوەرزانی پۆلی ١٢ بە یارمەتی AI دیزاین کراون.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گرنگە بەشداران بزانن AI هەمیشە ڕاست نییە و پێویستی بە پشکنین و بەرپرسیارییەتی هەیە.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دێمۆی ڕاستەوخۆ بەشداران بە چاوی خۆیان کارایی ئامرازەکان دەبینن.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نموونە پرۆمپتە گرنگەکان بۆ دێمۆی ڕاستەوخۆ لە کاتی پێشکەشکردنی سیمینارەکەدا بۆ وێناکردنی کارایی تەواوی ئامرازەکان.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ئەم سلایدە کورتکراوەی کۆرسەکەیە: پێش قسەکردن لەگەڵ AI دەبێت بیرۆکەت هەبێت، گۆشەنیگاکەت لە ئاستی پسپۆڕییەکەت دیاریبکەیت، پرۆمپتی زێڕین دابڕێژیت، پاشان پرۆسەی گفتوگۆ و دەستکاریکردن دەستپێبکەیت.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بەشی کۆتایی: سوپاسگوزاری، تێبینی کۆتایی، و پێدانی لینکەکانی پەیوەندی تێلیگرام، چەناڵ و وەتس ئاپ.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ero_ai_fu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0" y="320040"/>
            <a:ext cx="4873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B6D4"/>
                </a:solidFill>
                <a:latin typeface="Vazirmatn"/>
              </a:defRPr>
            </a:pPr>
            <a:r>
              <a:t>« دەبێت کۆمپیوتەر بتوانێت بیربکاتەوە؟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CA3AF"/>
                </a:solidFill>
                <a:latin typeface="Vazirmatn"/>
              </a:defRPr>
            </a:pPr>
            <a:r>
              <a:t>کۆرسی ژیری دەستکرد  •  سلاید 1 لە 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097280"/>
            <a:ext cx="9445752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645920"/>
            <a:ext cx="88971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Vazirmatn"/>
              </a:defRPr>
            </a:pPr>
            <a:r>
              <a:t>کۆرسی ژیری دەستکرد • ٢ کاتژمێر</a:t>
            </a:r>
          </a:p>
          <a:p>
            <a:pPr algn="ctr">
              <a:spcBef>
                <a:spcPts val="1400"/>
              </a:spcBef>
              <a:defRPr sz="3600" b="1">
                <a:solidFill>
                  <a:srgbClr val="FFFFFF"/>
                </a:solidFill>
                <a:latin typeface="Vazirmatn"/>
              </a:defRPr>
            </a:pPr>
            <a:r>
              <a:t>ژیری دەستکرد</a:t>
            </a:r>
          </a:p>
          <a:p>
            <a:pPr algn="ctr">
              <a:spcBef>
                <a:spcPts val="1400"/>
              </a:spcBef>
              <a:defRPr sz="1800">
                <a:solidFill>
                  <a:srgbClr val="D1D5DB"/>
                </a:solidFill>
                <a:latin typeface="Vazirmatn"/>
              </a:defRPr>
            </a:pPr>
            <a:r>
              <a:t>«ژیری دەستکرد لە ژیانی ڕۆژانە و کاردا» — ڕێنمایی گشتگیر بۆ قوتابی، مامۆستا، کارمەند، بزنس و گەشەپێدەران</a:t>
            </a:r>
          </a:p>
          <a:p>
            <a:pPr algn="ctr">
              <a:spcBef>
                <a:spcPts val="2000"/>
              </a:spcBef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پێشکەشکار: ئەندازیار عبدالرحمن اسماعیل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0" y="320040"/>
            <a:ext cx="4873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B6D4"/>
                </a:solidFill>
                <a:latin typeface="Vazirmatn"/>
              </a:defRPr>
            </a:pPr>
            <a:r>
              <a:t>« دەبێت کۆمپیوتەر بتوانێت بیربکاتەوە؟ 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6B6D4"/>
                </a:solidFill>
                <a:latin typeface="Vazirmatn"/>
              </a:defRPr>
            </a:pPr>
            <a:r>
              <a:t>پێشەکی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600" b="1">
                <a:solidFill>
                  <a:srgbClr val="FFFFFF"/>
                </a:solidFill>
                <a:latin typeface="Vazirmatn"/>
              </a:defRPr>
            </a:pPr>
            <a:r>
              <a:t>دەربارەی پێشکەشکار (خۆناساندن)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CA3AF"/>
                </a:solidFill>
                <a:latin typeface="Vazirmatn"/>
              </a:defRPr>
            </a:pPr>
            <a:r>
              <a:t>کۆرسی ژیری دەستکرد  •  سلاید 2 لە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645920"/>
            <a:ext cx="384048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gh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011680"/>
            <a:ext cx="2011680" cy="2011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420624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Vazirmatn"/>
              </a:defRPr>
            </a:pPr>
            <a:r>
              <a:t>ئەندازیار عبدالرحمن اسماعیل</a:t>
            </a:r>
          </a:p>
          <a:p>
            <a:pPr algn="ctr">
              <a:spcBef>
                <a:spcPts val="800"/>
              </a:spcBef>
              <a:defRPr sz="1300">
                <a:solidFill>
                  <a:srgbClr val="06B6D4"/>
                </a:solidFill>
                <a:latin typeface="Vazirmatn"/>
              </a:defRPr>
            </a:pPr>
            <a:r>
              <a:t>IT Manager  •  Web Developer  •  Technical Trainer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658368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6217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7C3AED"/>
                </a:solidFill>
                <a:latin typeface="Vazirmatn"/>
              </a:defRPr>
            </a:pPr>
            <a:r>
              <a:t>🎓 بڕوانامەکان (Education)</a:t>
            </a:r>
          </a:p>
          <a:p>
            <a:pPr algn="r">
              <a:spcBef>
                <a:spcPts val="400"/>
              </a:spcBef>
              <a:defRPr sz="1300">
                <a:solidFill>
                  <a:srgbClr val="D1D5DB"/>
                </a:solidFill>
                <a:latin typeface="Vazirmatn"/>
              </a:defRPr>
            </a:pPr>
            <a:r>
              <a:t>✦ ئەندازیاری سیستەمی زانیاری</a:t>
            </a:r>
          </a:p>
          <a:p>
            <a:pPr algn="r">
              <a:spcBef>
                <a:spcPts val="400"/>
              </a:spcBef>
              <a:defRPr sz="1300">
                <a:solidFill>
                  <a:srgbClr val="D1D5DB"/>
                </a:solidFill>
                <a:latin typeface="Vazirmatn"/>
              </a:defRPr>
            </a:pPr>
            <a:r>
              <a:t>✦ تەکنەلۆجیای زانیاری (IT)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658368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6217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💼 ئەزموونی کارکردن (Experience)</a:t>
            </a:r>
          </a:p>
          <a:p>
            <a:pPr algn="r">
              <a:spcBef>
                <a:spcPts val="400"/>
              </a:spcBef>
              <a:defRPr sz="1300">
                <a:solidFill>
                  <a:srgbClr val="D1D5DB"/>
                </a:solidFill>
                <a:latin typeface="Vazirmatn"/>
              </a:defRPr>
            </a:pPr>
            <a:r>
              <a:t>✦ زیاتر لە ٥ ساڵ ئەزموونی وانەوتنەوە و ڕاهێنەرایەتی لە چەندین بواری جیاجیادا.</a:t>
            </a:r>
          </a:p>
          <a:p>
            <a:pPr algn="r">
              <a:spcBef>
                <a:spcPts val="400"/>
              </a:spcBef>
              <a:defRPr sz="1300">
                <a:solidFill>
                  <a:srgbClr val="D1D5DB"/>
                </a:solidFill>
                <a:latin typeface="Vazirmatn"/>
              </a:defRPr>
            </a:pPr>
            <a:r>
              <a:t>✦ بەڕێوەبەری پێشووی بەشی IT لە چەندین کۆمپانیا.</a:t>
            </a:r>
          </a:p>
          <a:p>
            <a:pPr algn="r">
              <a:spcBef>
                <a:spcPts val="400"/>
              </a:spcBef>
              <a:defRPr sz="1300">
                <a:solidFill>
                  <a:srgbClr val="D1D5DB"/>
                </a:solidFill>
                <a:latin typeface="Vazirmatn"/>
              </a:defRPr>
            </a:pPr>
            <a:r>
              <a:t>✦ ئەزموون لە بواری جیاوازی سەر بە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i_doc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0" y="320040"/>
            <a:ext cx="4873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B6D4"/>
                </a:solidFill>
                <a:latin typeface="Vazirmatn"/>
              </a:defRPr>
            </a:pPr>
            <a:r>
              <a:t>« دەبێت کۆمپیوتەر بتوانێت بیربکاتەوە؟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6B6D4"/>
                </a:solidFill>
                <a:latin typeface="Vazirmatn"/>
              </a:defRPr>
            </a:pPr>
            <a:r>
              <a:t>نەخشەی رێگای کۆرسەکە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600" b="1">
                <a:solidFill>
                  <a:srgbClr val="FFFFFF"/>
                </a:solidFill>
                <a:latin typeface="Vazirmatn"/>
              </a:defRPr>
            </a:pPr>
            <a:r>
              <a:t>بابەتە سەرەکیەکانی کۆرسەکە (١٢ بەش)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CA3AF"/>
                </a:solidFill>
                <a:latin typeface="Vazirmatn"/>
              </a:defRPr>
            </a:pPr>
            <a:r>
              <a:t>کۆرسی ژیری دەستکرد  •  سلاید 3 لە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29184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بەشی ١ - ٣</a:t>
            </a:r>
          </a:p>
          <a:p>
            <a:pPr algn="r">
              <a:spcBef>
                <a:spcPts val="400"/>
              </a:spcBef>
              <a:defRPr sz="1500" b="1">
                <a:solidFill>
                  <a:srgbClr val="FFFFFF"/>
                </a:solidFill>
                <a:latin typeface="Vazirmatn"/>
              </a:defRPr>
            </a:pPr>
            <a:r>
              <a:t>بنەما, مۆدێلەکان &amp; پرۆمپت</a:t>
            </a:r>
          </a:p>
          <a:p>
            <a:pPr algn="r">
              <a:spcBef>
                <a:spcPts val="400"/>
              </a:spcBef>
              <a:defRPr sz="1200">
                <a:solidFill>
                  <a:srgbClr val="D1D5DB"/>
                </a:solidFill>
                <a:latin typeface="Vazirmatn"/>
              </a:defRPr>
            </a:pPr>
            <a:r>
              <a:t>ژیری دەستکرد چییە؟ جۆرەکانی مۆدێلەکان، و ئەندازیاری پرۆمپتی پیشەیی.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78308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بەشی ٤ - ٦</a:t>
            </a:r>
          </a:p>
          <a:p>
            <a:pPr algn="r">
              <a:spcBef>
                <a:spcPts val="400"/>
              </a:spcBef>
              <a:defRPr sz="1500" b="1">
                <a:solidFill>
                  <a:srgbClr val="FFFFFF"/>
                </a:solidFill>
                <a:latin typeface="Vazirmatn"/>
              </a:defRPr>
            </a:pPr>
            <a:r>
              <a:t>قوتابی، مامۆستا &amp; خاوەنکار</a:t>
            </a:r>
          </a:p>
          <a:p>
            <a:pPr algn="r">
              <a:spcBef>
                <a:spcPts val="400"/>
              </a:spcBef>
              <a:defRPr sz="1200">
                <a:solidFill>
                  <a:srgbClr val="D1D5DB"/>
                </a:solidFill>
                <a:latin typeface="Vazirmatn"/>
              </a:defRPr>
            </a:pPr>
            <a:r>
              <a:t>کورتکردنەوەی PDF، داڕشتنی پلان، فیدباک و ڕاپۆرتی ئۆتۆماتیک.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78308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بەشی ٧ - ٨</a:t>
            </a:r>
          </a:p>
          <a:p>
            <a:pPr algn="r">
              <a:spcBef>
                <a:spcPts val="400"/>
              </a:spcBef>
              <a:defRPr sz="1500" b="1">
                <a:solidFill>
                  <a:srgbClr val="FFFFFF"/>
                </a:solidFill>
                <a:latin typeface="Vazirmatn"/>
              </a:defRPr>
            </a:pPr>
            <a:r>
              <a:t>بزنس &amp; گەشەپێدەر</a:t>
            </a:r>
          </a:p>
          <a:p>
            <a:pPr algn="r">
              <a:spcBef>
                <a:spcPts val="400"/>
              </a:spcBef>
              <a:defRPr sz="1200">
                <a:solidFill>
                  <a:srgbClr val="D1D5DB"/>
                </a:solidFill>
                <a:latin typeface="Vazirmatn"/>
              </a:defRPr>
            </a:pPr>
            <a:r>
              <a:t>پرۆسەی کاری ١١ هەنگاوی بزنس و گەشەپێدانی کۆد بە AI.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329184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776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☕ پشوو</a:t>
            </a:r>
          </a:p>
          <a:p>
            <a:pPr algn="r">
              <a:spcBef>
                <a:spcPts val="400"/>
              </a:spcBef>
              <a:defRPr sz="1500" b="1">
                <a:solidFill>
                  <a:srgbClr val="FFFFFF"/>
                </a:solidFill>
                <a:latin typeface="Vazirmatn"/>
              </a:defRPr>
            </a:pPr>
            <a:r>
              <a:t>کۆفی برێک (١٥ خولەک)</a:t>
            </a:r>
          </a:p>
          <a:p>
            <a:pPr algn="r">
              <a:spcBef>
                <a:spcPts val="400"/>
              </a:spcBef>
              <a:defRPr sz="1200">
                <a:solidFill>
                  <a:srgbClr val="D1D5DB"/>
                </a:solidFill>
                <a:latin typeface="Vazirmatn"/>
              </a:defRPr>
            </a:pPr>
            <a:r>
              <a:t>پشوو پاش تەواوبوونی وانەکانی خۆکارکردن، بزنس و گەشەپێدان.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840480"/>
            <a:ext cx="329184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9776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بەشی ٩ - ١٠</a:t>
            </a:r>
          </a:p>
          <a:p>
            <a:pPr algn="r">
              <a:spcBef>
                <a:spcPts val="400"/>
              </a:spcBef>
              <a:defRPr sz="1500" b="1">
                <a:solidFill>
                  <a:srgbClr val="FFFFFF"/>
                </a:solidFill>
                <a:latin typeface="Vazirmatn"/>
              </a:defRPr>
            </a:pPr>
            <a:r>
              <a:t>دیزاینەر &amp; سنوورەکانی AI</a:t>
            </a:r>
          </a:p>
          <a:p>
            <a:pPr algn="r">
              <a:spcBef>
                <a:spcPts val="400"/>
              </a:spcBef>
              <a:defRPr sz="1200">
                <a:solidFill>
                  <a:srgbClr val="D1D5DB"/>
                </a:solidFill>
                <a:latin typeface="Vazirmatn"/>
              </a:defRPr>
            </a:pPr>
            <a:r>
              <a:t>دروستکردنی وێنە و ڤیدیۆ، و تێگەیشتن لە هەڵەکان و دیپ فەیک.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840480"/>
            <a:ext cx="329184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39776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بەشی ١١ - ١٢</a:t>
            </a:r>
          </a:p>
          <a:p>
            <a:pPr algn="r">
              <a:spcBef>
                <a:spcPts val="400"/>
              </a:spcBef>
              <a:defRPr sz="1500" b="1">
                <a:solidFill>
                  <a:srgbClr val="FFFFFF"/>
                </a:solidFill>
                <a:latin typeface="Vazirmatn"/>
              </a:defRPr>
            </a:pPr>
            <a:r>
              <a:t>نموونەی ڕاستەوخۆ &amp; داهاتوو</a:t>
            </a:r>
          </a:p>
          <a:p>
            <a:pPr algn="r">
              <a:spcBef>
                <a:spcPts val="400"/>
              </a:spcBef>
              <a:defRPr sz="1200">
                <a:solidFill>
                  <a:srgbClr val="D1D5DB"/>
                </a:solidFill>
                <a:latin typeface="Vazirmatn"/>
              </a:defRPr>
            </a:pPr>
            <a:r>
              <a:t>تەماشاکردنی دێمۆی ڕاستەوخۆ و داڕشتنی پاشەرۆژی ئەی ئای.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i_doc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0" y="320040"/>
            <a:ext cx="4873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B6D4"/>
                </a:solidFill>
                <a:latin typeface="Vazirmatn"/>
              </a:defRPr>
            </a:pPr>
            <a:r>
              <a:t>« دەبێت کۆمپیوتەر بتوانێت بیربکاتەوە؟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6B6D4"/>
                </a:solidFill>
                <a:latin typeface="Vazirmatn"/>
              </a:defRPr>
            </a:pPr>
            <a:r>
              <a:t>بەشی ١ (١٠ - ١٥ خولەک)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600" b="1">
                <a:solidFill>
                  <a:srgbClr val="FFFFFF"/>
                </a:solidFill>
                <a:latin typeface="Vazirmatn"/>
              </a:defRPr>
            </a:pPr>
            <a:r>
              <a:t>ژیری دەستکرد چییە؟ (تێگەیشتن لە بنەماکان)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CA3AF"/>
                </a:solidFill>
                <a:latin typeface="Vazirmatn"/>
              </a:defRPr>
            </a:pPr>
            <a:r>
              <a:t>کۆرسی ژیری دەستکرد  •  سلاید 4 لە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925726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65140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ژیری دەستکرد چییە؟</a:t>
            </a:r>
          </a:p>
          <a:p>
            <a:pPr algn="r">
              <a:spcBef>
                <a:spcPts val="1200"/>
              </a:spcBef>
              <a:defRPr sz="1300">
                <a:solidFill>
                  <a:srgbClr val="D1D5DB"/>
                </a:solidFill>
                <a:latin typeface="Vazirmatn"/>
              </a:defRPr>
            </a:pPr>
            <a:r>
              <a:t>سیستەمێک کە بیرکاری و داتا بەکاردێنێت بۆ شیکردنەوە و بڕیاردان وەک مرۆڤ.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31566" y="1645920"/>
            <a:ext cx="1925726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8726" y="1828800"/>
            <a:ext cx="165140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Vazirmatn"/>
              </a:defRPr>
            </a:pPr>
            <a:r>
              <a:t>لە کوێ دەبینین؟</a:t>
            </a:r>
          </a:p>
          <a:p>
            <a:pPr algn="r">
              <a:spcBef>
                <a:spcPts val="1200"/>
              </a:spcBef>
              <a:defRPr sz="1300">
                <a:solidFill>
                  <a:srgbClr val="D1D5DB"/>
                </a:solidFill>
                <a:latin typeface="Vazirmatn"/>
              </a:defRPr>
            </a:pPr>
            <a:r>
              <a:t>لە تەلیفۆن، گووگڵ، فەیسبووک، سیستەمی پزیشکی و ئۆتۆمبێلی خۆڕەودا.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31612" y="1645920"/>
            <a:ext cx="1925726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68772" y="1828800"/>
            <a:ext cx="165140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چۆن بیر دەکات؟</a:t>
            </a:r>
          </a:p>
          <a:p>
            <a:pPr algn="r">
              <a:spcBef>
                <a:spcPts val="1200"/>
              </a:spcBef>
              <a:defRPr sz="1300">
                <a:solidFill>
                  <a:srgbClr val="D1D5DB"/>
                </a:solidFill>
                <a:latin typeface="Vazirmatn"/>
              </a:defRPr>
            </a:pPr>
            <a:r>
              <a:t>بە شیکردنەوەی ملیارەها نەخش و داتا لە ڕێگەی تۆڕە دەمارییەکانەوە (Neural Networks).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31659" y="1645920"/>
            <a:ext cx="1925726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68819" y="1828800"/>
            <a:ext cx="165140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Vazirmatn"/>
              </a:defRPr>
            </a:pPr>
            <a:r>
              <a:t>مۆدێلی زمانی چییە؟</a:t>
            </a:r>
          </a:p>
          <a:p>
            <a:pPr algn="r">
              <a:spcBef>
                <a:spcPts val="1200"/>
              </a:spcBef>
              <a:defRPr sz="1300">
                <a:solidFill>
                  <a:srgbClr val="D1D5DB"/>
                </a:solidFill>
                <a:latin typeface="Vazirmatn"/>
              </a:defRPr>
            </a:pPr>
            <a:r>
              <a:t>مۆدێلی زمانی گەورە (Large Language Model) کە لە دەق تێدەگات و نووسین دەخولقێنێت.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31705" y="1645920"/>
            <a:ext cx="1925726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68865" y="1828800"/>
            <a:ext cx="165140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چۆن فێر دەبێت؟</a:t>
            </a:r>
          </a:p>
          <a:p>
            <a:pPr algn="r">
              <a:spcBef>
                <a:spcPts val="1200"/>
              </a:spcBef>
              <a:defRPr sz="1300">
                <a:solidFill>
                  <a:srgbClr val="D1D5DB"/>
                </a:solidFill>
                <a:latin typeface="Vazirmatn"/>
              </a:defRPr>
            </a:pPr>
            <a:r>
              <a:t>لە ڕێگەی ڕاهێنان (Training) لەسەر تێکست و زانیاری ڕابردوو؛ «جادوو نییە، بیرکارییە!»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i_doc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0" y="320040"/>
            <a:ext cx="4873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B6D4"/>
                </a:solidFill>
                <a:latin typeface="Vazirmatn"/>
              </a:defRPr>
            </a:pPr>
            <a:r>
              <a:t>« دەبێت کۆمپیوتەر بتوانێت بیربکاتەوە؟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6B6D4"/>
                </a:solidFill>
                <a:latin typeface="Vazirmatn"/>
              </a:defRPr>
            </a:pPr>
            <a:r>
              <a:t>بەشی ٢ (١٥ خولەک)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600" b="1">
                <a:solidFill>
                  <a:srgbClr val="FFFFFF"/>
                </a:solidFill>
                <a:latin typeface="Vazirmatn"/>
              </a:defRPr>
            </a:pPr>
            <a:r>
              <a:t>جۆرەکانی ئامرازی ژیری دەستکرد و بەکارهێنانیان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CA3AF"/>
                </a:solidFill>
                <a:latin typeface="Vazirmatn"/>
              </a:defRPr>
            </a:pPr>
            <a:r>
              <a:t>کۆرسی ژیری دەستکرد  •  سلاید 5 لە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29184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چات جیپیتی (ChatGPT)</a:t>
            </a:r>
          </a:p>
          <a:p>
            <a:pPr algn="r">
              <a:spcBef>
                <a:spcPts val="400"/>
              </a:spcBef>
              <a:defRPr sz="1500" b="1">
                <a:solidFill>
                  <a:srgbClr val="FFFFFF"/>
                </a:solidFill>
                <a:latin typeface="Vazirmatn"/>
              </a:defRPr>
            </a:pPr>
            <a:r>
              <a:t>نووسین، کۆد و پلان</a:t>
            </a:r>
          </a:p>
          <a:p>
            <a:pPr algn="r">
              <a:spcBef>
                <a:spcPts val="400"/>
              </a:spcBef>
              <a:defRPr sz="1200">
                <a:solidFill>
                  <a:srgbClr val="D1D5DB"/>
                </a:solidFill>
                <a:latin typeface="Vazirmatn"/>
              </a:defRPr>
            </a:pPr>
            <a:r>
              <a:t>باشترین بۆ: نووسینی دەق، شیکاری، کۆدکردن، و داڕشتنی پلانی گشتی.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78308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کلۆد (Claude)</a:t>
            </a:r>
          </a:p>
          <a:p>
            <a:pPr algn="r">
              <a:spcBef>
                <a:spcPts val="400"/>
              </a:spcBef>
              <a:defRPr sz="1500" b="1">
                <a:solidFill>
                  <a:srgbClr val="FFFFFF"/>
                </a:solidFill>
                <a:latin typeface="Vazirmatn"/>
              </a:defRPr>
            </a:pPr>
            <a:r>
              <a:t>PDF، ڕاپۆرت و نووسین</a:t>
            </a:r>
          </a:p>
          <a:p>
            <a:pPr algn="r">
              <a:spcBef>
                <a:spcPts val="400"/>
              </a:spcBef>
              <a:defRPr sz="1200">
                <a:solidFill>
                  <a:srgbClr val="D1D5DB"/>
                </a:solidFill>
                <a:latin typeface="Vazirmatn"/>
              </a:defRPr>
            </a:pPr>
            <a:r>
              <a:t>باشترین بۆ: خوێندنەوەی فایلی PDF ی درێژ، نووسینی فەرمی و ڕاپۆرتی زانستی.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78308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جێمینای (Gemini)</a:t>
            </a:r>
          </a:p>
          <a:p>
            <a:pPr algn="r">
              <a:spcBef>
                <a:spcPts val="400"/>
              </a:spcBef>
              <a:defRPr sz="1500" b="1">
                <a:solidFill>
                  <a:srgbClr val="FFFFFF"/>
                </a:solidFill>
                <a:latin typeface="Vazirmatn"/>
              </a:defRPr>
            </a:pPr>
            <a:r>
              <a:t>گووگڵ، Docs &amp; Gmail</a:t>
            </a:r>
          </a:p>
          <a:p>
            <a:pPr algn="r">
              <a:spcBef>
                <a:spcPts val="400"/>
              </a:spcBef>
              <a:defRPr sz="1200">
                <a:solidFill>
                  <a:srgbClr val="D1D5DB"/>
                </a:solidFill>
                <a:latin typeface="Vazirmatn"/>
              </a:defRPr>
            </a:pPr>
            <a:r>
              <a:t>باشترین بۆ: بەستنەوە بە بەڵگەنامەکانی گووگڵ، گەڕان و خزمەتگوزارییەکان.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329184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776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پێرپلێکسیتی (Perplexity)</a:t>
            </a:r>
          </a:p>
          <a:p>
            <a:pPr algn="r">
              <a:spcBef>
                <a:spcPts val="400"/>
              </a:spcBef>
              <a:defRPr sz="1500" b="1">
                <a:solidFill>
                  <a:srgbClr val="FFFFFF"/>
                </a:solidFill>
                <a:latin typeface="Vazirmatn"/>
              </a:defRPr>
            </a:pPr>
            <a:r>
              <a:t>توێژینەوە و سەرچاوەکان</a:t>
            </a:r>
          </a:p>
          <a:p>
            <a:pPr algn="r">
              <a:spcBef>
                <a:spcPts val="400"/>
              </a:spcBef>
              <a:defRPr sz="1200">
                <a:solidFill>
                  <a:srgbClr val="D1D5DB"/>
                </a:solidFill>
                <a:latin typeface="Vazirmatn"/>
              </a:defRPr>
            </a:pPr>
            <a:r>
              <a:t>باشترین بۆ: لێکۆڵینەوەی ئەکادیمی، بەڵگە و هێنانی لینک و سەرچاوەی ڕاستەقینە.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840480"/>
            <a:ext cx="329184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9776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کۆپایڵۆت (Copilot)</a:t>
            </a:r>
          </a:p>
          <a:p>
            <a:pPr algn="r">
              <a:spcBef>
                <a:spcPts val="400"/>
              </a:spcBef>
              <a:defRPr sz="1500" b="1">
                <a:solidFill>
                  <a:srgbClr val="FFFFFF"/>
                </a:solidFill>
                <a:latin typeface="Vazirmatn"/>
              </a:defRPr>
            </a:pPr>
            <a:r>
              <a:t>ماڵپەڕەکانی مایکرۆسۆفت</a:t>
            </a:r>
          </a:p>
          <a:p>
            <a:pPr algn="r">
              <a:spcBef>
                <a:spcPts val="400"/>
              </a:spcBef>
              <a:defRPr sz="1200">
                <a:solidFill>
                  <a:srgbClr val="D1D5DB"/>
                </a:solidFill>
                <a:latin typeface="Vazirmatn"/>
              </a:defRPr>
            </a:pPr>
            <a:r>
              <a:t>باشترین بۆ: ئۆتۆماتیکردنی Excel، Word، و دروستکردنی پرێزێنتەیشن لە PowerPoint.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840480"/>
            <a:ext cx="329184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39776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گرۆک (Grok)</a:t>
            </a:r>
          </a:p>
          <a:p>
            <a:pPr algn="r">
              <a:spcBef>
                <a:spcPts val="400"/>
              </a:spcBef>
              <a:defRPr sz="1500" b="1">
                <a:solidFill>
                  <a:srgbClr val="FFFFFF"/>
                </a:solidFill>
                <a:latin typeface="Vazirmatn"/>
              </a:defRPr>
            </a:pPr>
            <a:r>
              <a:t>تۆڕی ئێکس (Twitter)</a:t>
            </a:r>
          </a:p>
          <a:p>
            <a:pPr algn="r">
              <a:spcBef>
                <a:spcPts val="400"/>
              </a:spcBef>
              <a:defRPr sz="1200">
                <a:solidFill>
                  <a:srgbClr val="D1D5DB"/>
                </a:solidFill>
                <a:latin typeface="Vazirmatn"/>
              </a:defRPr>
            </a:pPr>
            <a:r>
              <a:t>باشترین بۆ: زانیارییەکانی ڕووداوە زۆر تازەکان لە سۆشیال میدیاوە.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ero_ai_fu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0" y="320040"/>
            <a:ext cx="4873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B6D4"/>
                </a:solidFill>
                <a:latin typeface="Vazirmatn"/>
              </a:defRPr>
            </a:pPr>
            <a:r>
              <a:t>« دەبێت کۆمپیوتەر بتوانێت بیربکاتەوە؟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6B6D4"/>
                </a:solidFill>
                <a:latin typeface="Vazirmatn"/>
              </a:defRPr>
            </a:pPr>
            <a:r>
              <a:t>بەشی ٣ (٢٥ خولەک)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600" b="1">
                <a:solidFill>
                  <a:srgbClr val="FFFFFF"/>
                </a:solidFill>
                <a:latin typeface="Vazirmatn"/>
              </a:defRPr>
            </a:pPr>
            <a:r>
              <a:t>ئەندازیاری پرۆمپت — ئاستەکانی نووسینی پرۆمپت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CA3AF"/>
                </a:solidFill>
                <a:latin typeface="Vazirmatn"/>
              </a:defRPr>
            </a:pPr>
            <a:r>
              <a:t>کۆرسی ژیری دەستکرد  •  سلاید 6 لە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2A1518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EF4444"/>
                </a:solidFill>
                <a:latin typeface="Vazirmatn"/>
              </a:defRPr>
            </a:pPr>
            <a:r>
              <a:t>پرۆمپتی لاواز</a:t>
            </a:r>
          </a:p>
          <a:p>
            <a:pPr algn="r">
              <a:spcBef>
                <a:spcPts val="1400"/>
              </a:spcBef>
              <a:defRPr sz="1600" b="1">
                <a:solidFill>
                  <a:srgbClr val="FFFFFF"/>
                </a:solidFill>
                <a:latin typeface="Vazirmatn"/>
              </a:defRPr>
            </a:pPr>
            <a:r>
              <a:t>«بابەتێکم بۆ بنووسە.»</a:t>
            </a:r>
          </a:p>
          <a:p>
            <a:pPr algn="r">
              <a:spcBef>
                <a:spcPts val="1400"/>
              </a:spcBef>
              <a:defRPr sz="1400">
                <a:solidFill>
                  <a:srgbClr val="D1D5DB"/>
                </a:solidFill>
                <a:latin typeface="Vazirmatn"/>
              </a:defRPr>
            </a:pPr>
            <a:r>
              <a:t>گشتییە و دەرئەنجامێکی لاواز دەدات.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102A2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10B981"/>
                </a:solidFill>
                <a:latin typeface="Vazirmatn"/>
              </a:defRPr>
            </a:pPr>
            <a:r>
              <a:t>پرۆمپتی زۆر باش (پێشکەوتوو)</a:t>
            </a:r>
          </a:p>
          <a:p>
            <a:pPr algn="r">
              <a:spcBef>
                <a:spcPts val="1000"/>
              </a:spcBef>
              <a:defRPr sz="1400" b="1">
                <a:solidFill>
                  <a:srgbClr val="FFFFFF"/>
                </a:solidFill>
                <a:latin typeface="Vazirmatn"/>
              </a:defRPr>
            </a:pPr>
            <a:r>
              <a:t>«تۆ مامۆستای ژیری دەستکردیت. بابەتێکی ٥٠٠ وشەی فەرمی بنووسە بۆ قوتابی زانکۆ، بە زمانی کوردی، بە سەرناو، نموونە، و کۆتایی، و ٥ پرسیاری تاقیکردنەوە لە کۆتایی زیاد بکە.»</a:t>
            </a:r>
          </a:p>
          <a:p>
            <a:pPr algn="r">
              <a:spcBef>
                <a:spcPts val="1000"/>
              </a:spcBef>
              <a:defRPr sz="1400">
                <a:solidFill>
                  <a:srgbClr val="D1D5DB"/>
                </a:solidFill>
                <a:latin typeface="Vazirmatn"/>
              </a:defRPr>
            </a:pPr>
            <a:r>
              <a:t>ڕۆڵ، ئۆدیانس، فۆرمات، زمانی دیاریکراو و ئەرکی تەواو دەدات بە AI.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i_doc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0" y="320040"/>
            <a:ext cx="4873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B6D4"/>
                </a:solidFill>
                <a:latin typeface="Vazirmatn"/>
              </a:defRPr>
            </a:pPr>
            <a:r>
              <a:t>« دەبێت کۆمپیوتەر بتوانێت بیربکاتەوە؟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6B6D4"/>
                </a:solidFill>
                <a:latin typeface="Vazirmatn"/>
              </a:defRPr>
            </a:pPr>
            <a:r>
              <a:t>نموونەی پرۆمپت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600" b="1">
                <a:solidFill>
                  <a:srgbClr val="FFFFFF"/>
                </a:solidFill>
                <a:latin typeface="Vazirmatn"/>
              </a:defRPr>
            </a:pPr>
            <a:r>
              <a:t>بانکی نموونەکان: فێرکاری، خوێندن، بزنس و کۆد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CA3AF"/>
                </a:solidFill>
                <a:latin typeface="Vazirmatn"/>
              </a:defRPr>
            </a:pPr>
            <a:r>
              <a:t>کۆرسی ژیری دەستکرد  •  سلاید 7 لە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475738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201418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١. بواری فێرکاری (مامۆستا)</a:t>
            </a:r>
          </a:p>
          <a:p>
            <a:pPr algn="r">
              <a:spcBef>
                <a:spcPts val="1200"/>
              </a:spcBef>
              <a:defRPr sz="1300">
                <a:solidFill>
                  <a:srgbClr val="D1D5DB"/>
                </a:solidFill>
                <a:latin typeface="Vazirmatn"/>
              </a:defRPr>
            </a:pPr>
            <a:r>
              <a:t>🔴 لاواز: «تاقیکردنەوەیەکم بۆ بکە.»</a:t>
            </a:r>
            <a:br/>
            <a:r>
              <a:t>🟡 ناوەند: «تاقیکردنەوەیەک بۆ پۆلی ٩ بە ٥ پرسیار.»</a:t>
            </a:r>
            <a:br/>
            <a:r>
              <a:t>🟢 باش: «تۆ مامۆستایەکی بیرکاری لێهاتووی پۆلی نۆیت. تاقیکردنەوەیەکی فرەبژاردە لەسەر جەبر دروستبکە...»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1578" y="1645920"/>
            <a:ext cx="2475738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8738" y="1828800"/>
            <a:ext cx="2201418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Vazirmatn"/>
              </a:defRPr>
            </a:pPr>
            <a:r>
              <a:t>٢. بواری خوێندن (قوتابی)</a:t>
            </a:r>
          </a:p>
          <a:p>
            <a:pPr algn="r">
              <a:spcBef>
                <a:spcPts val="1200"/>
              </a:spcBef>
              <a:defRPr sz="1300">
                <a:solidFill>
                  <a:srgbClr val="D1D5DB"/>
                </a:solidFill>
                <a:latin typeface="Vazirmatn"/>
              </a:defRPr>
            </a:pPr>
            <a:r>
              <a:t>🔴 لاواز: «بابەتەکەم بۆ ڕوونبکەرەوە.»</a:t>
            </a:r>
            <a:br/>
            <a:r>
              <a:t>🟡 ناوەند: «ژیری دەستکردم بۆ کورت بکەرەوە.»</a:t>
            </a:r>
            <a:br/>
            <a:r>
              <a:t>🟢 باش: «تۆ خوێندکاری زانکۆیت لە بەشی کۆمپیوتەر. چەمکی Neural Networks کورت بکەرەوە بە...»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1645920"/>
            <a:ext cx="2475738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8796" y="1828800"/>
            <a:ext cx="2201418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٣. بواری کار (بزنس)</a:t>
            </a:r>
          </a:p>
          <a:p>
            <a:pPr algn="r">
              <a:spcBef>
                <a:spcPts val="1200"/>
              </a:spcBef>
              <a:defRPr sz="1300">
                <a:solidFill>
                  <a:srgbClr val="D1D5DB"/>
                </a:solidFill>
                <a:latin typeface="Vazirmatn"/>
              </a:defRPr>
            </a:pPr>
            <a:r>
              <a:t>🔴 لاواز: «ڕیکلامێکم بۆ بنووسە.»</a:t>
            </a:r>
            <a:br/>
            <a:r>
              <a:t>🟡 ناوەند: «پۆستێکی فەیسبووک بۆ ئایفۆن.»</a:t>
            </a:r>
            <a:br/>
            <a:r>
              <a:t>🟢 باش: «تۆ پسپۆڕی مارکێتینگیت. پۆستێکی سەرنجڕاکێش بنووسە بۆ فەیسبووک بۆ فرۆشتنی مۆبایل...»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81694" y="1645920"/>
            <a:ext cx="2475738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18854" y="1828800"/>
            <a:ext cx="2201418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Vazirmatn"/>
              </a:defRPr>
            </a:pPr>
            <a:r>
              <a:t>٤. بواری پڕۆگرامسازی</a:t>
            </a:r>
          </a:p>
          <a:p>
            <a:pPr algn="r">
              <a:spcBef>
                <a:spcPts val="1200"/>
              </a:spcBef>
              <a:defRPr sz="1300">
                <a:solidFill>
                  <a:srgbClr val="D1D5DB"/>
                </a:solidFill>
                <a:latin typeface="Vazirmatn"/>
              </a:defRPr>
            </a:pPr>
            <a:r>
              <a:t>🔴 لاواز: «کۆدی HTMLم دەوێت.»</a:t>
            </a:r>
            <a:br/>
            <a:r>
              <a:t>🟡 ناوەند: «دوگمەیەکی جوان دروستبکە.»</a:t>
            </a:r>
            <a:br/>
            <a:r>
              <a:t>🟢 باش: «تۆ گەشەپێدەرێکی لێهاتووی وێبیت. کۆدێکی پاکی HTML و CSS دروستبکە بۆ دوگمەیەکی...»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i_doc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0" y="320040"/>
            <a:ext cx="4873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B6D4"/>
                </a:solidFill>
                <a:latin typeface="Vazirmatn"/>
              </a:defRPr>
            </a:pPr>
            <a:r>
              <a:t>« دەبێت کۆمپیوتەر بتوانێت بیربکاتەوە؟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6B6D4"/>
                </a:solidFill>
                <a:latin typeface="Vazirmatn"/>
              </a:defRPr>
            </a:pPr>
            <a:r>
              <a:t>داڕشتنی پرۆمپت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600" b="1">
                <a:solidFill>
                  <a:srgbClr val="FFFFFF"/>
                </a:solidFill>
                <a:latin typeface="Vazirmatn"/>
              </a:defRPr>
            </a:pPr>
            <a:r>
              <a:t>پێکهاتەی زێڕینی پرۆمپت (ڕۆڵ، ئەرک، پاشبنەما، فۆرمات، تۆنی دەنگ)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CA3AF"/>
                </a:solidFill>
                <a:latin typeface="Vazirmatn"/>
              </a:defRPr>
            </a:pPr>
            <a:r>
              <a:t>کۆرسی ژیری دەستکرد  •  سلاید 8 لە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925726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65140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١. ڕۆڵ (Role)</a:t>
            </a:r>
          </a:p>
          <a:p>
            <a:pPr algn="r">
              <a:spcBef>
                <a:spcPts val="1200"/>
              </a:spcBef>
              <a:defRPr sz="1300">
                <a:solidFill>
                  <a:srgbClr val="D1D5DB"/>
                </a:solidFill>
                <a:latin typeface="Vazirmatn"/>
              </a:defRPr>
            </a:pPr>
            <a:r>
              <a:t>«وەک شارەزایەک بجوڵێوە»</a:t>
            </a:r>
            <a:br/>
            <a:r>
              <a:t>ئەزموون و لێهاتوویی مۆدێلەکە دیاری دەکات بۆ ئەوەی وەڵامەکە بەپێی پسپۆڕییەکە شیکاری بکات.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31566" y="1645920"/>
            <a:ext cx="1925726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8726" y="1828800"/>
            <a:ext cx="165140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Vazirmatn"/>
              </a:defRPr>
            </a:pPr>
            <a:r>
              <a:t>٢. ئەرک (Task)</a:t>
            </a:r>
          </a:p>
          <a:p>
            <a:pPr algn="r">
              <a:spcBef>
                <a:spcPts val="1200"/>
              </a:spcBef>
              <a:defRPr sz="1300">
                <a:solidFill>
                  <a:srgbClr val="D1D5DB"/>
                </a:solidFill>
                <a:latin typeface="Vazirmatn"/>
              </a:defRPr>
            </a:pPr>
            <a:r>
              <a:t>«دەمەوێت ئەمەم بۆ بکەیت»</a:t>
            </a:r>
            <a:br/>
            <a:r>
              <a:t>ئامانجی کارەکە بە وردی دەنووسێت (وەک نووسینی نامە، شیتاڵکردنی داتا یان کورتکردنەوە).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31612" y="1645920"/>
            <a:ext cx="1925726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68772" y="1828800"/>
            <a:ext cx="165140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٣. پاشبنەما (Context)</a:t>
            </a:r>
          </a:p>
          <a:p>
            <a:pPr algn="r">
              <a:spcBef>
                <a:spcPts val="1200"/>
              </a:spcBef>
              <a:defRPr sz="1300">
                <a:solidFill>
                  <a:srgbClr val="D1D5DB"/>
                </a:solidFill>
                <a:latin typeface="Vazirmatn"/>
              </a:defRPr>
            </a:pPr>
            <a:r>
              <a:t>«ئەم زانیارییانەت پێویستە»</a:t>
            </a:r>
            <a:br/>
            <a:r>
              <a:t>کێ ئۆدیانسە، بۆچی دەتەوێت و هەر زانیاری پاشبنەمای پێشوو.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31659" y="1645920"/>
            <a:ext cx="1925726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68819" y="1828800"/>
            <a:ext cx="165140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Vazirmatn"/>
              </a:defRPr>
            </a:pPr>
            <a:r>
              <a:t>٤. فۆرمات (Format)</a:t>
            </a:r>
          </a:p>
          <a:p>
            <a:pPr algn="r">
              <a:spcBef>
                <a:spcPts val="1200"/>
              </a:spcBef>
              <a:defRPr sz="1300">
                <a:solidFill>
                  <a:srgbClr val="D1D5DB"/>
                </a:solidFill>
                <a:latin typeface="Vazirmatn"/>
              </a:defRPr>
            </a:pPr>
            <a:r>
              <a:t>«شێوازی پیشاندانی ئەنجام»</a:t>
            </a:r>
            <a:br/>
            <a:r>
              <a:t>وەک خشتە (Table)، لیستی خاڵبەندی (Bullet points)، یان پاراگرافی کورت.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31705" y="1645920"/>
            <a:ext cx="1925726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68865" y="1828800"/>
            <a:ext cx="165140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٥. تۆن &amp; سنووردارکردن</a:t>
            </a:r>
          </a:p>
          <a:p>
            <a:pPr algn="r">
              <a:spcBef>
                <a:spcPts val="1200"/>
              </a:spcBef>
              <a:defRPr sz="1300">
                <a:solidFill>
                  <a:srgbClr val="D1D5DB"/>
                </a:solidFill>
                <a:latin typeface="Vazirmatn"/>
              </a:defRPr>
            </a:pPr>
            <a:r>
              <a:t>«شێوازی دەربڕین و سنوور»</a:t>
            </a:r>
            <a:br/>
            <a:r>
              <a:t>تۆنی فەرمی یان سادە، لەگەڵ سنووری ژمارەی وشە و زمانی کوردی سۆرانی.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i_workflow_n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0" y="320040"/>
            <a:ext cx="4873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B6D4"/>
                </a:solidFill>
                <a:latin typeface="Vazirmatn"/>
              </a:defRPr>
            </a:pPr>
            <a:r>
              <a:t>« دەبێت کۆمپیوتەر بتوانێت بیربکاتەوە؟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6B6D4"/>
                </a:solidFill>
                <a:latin typeface="Vazirmatn"/>
              </a:defRPr>
            </a:pPr>
            <a:r>
              <a:t>بەشی 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600" b="1">
                <a:solidFill>
                  <a:srgbClr val="FFFFFF"/>
                </a:solidFill>
                <a:latin typeface="Vazirmatn"/>
              </a:defRPr>
            </a:pPr>
            <a:r>
              <a:t>ژیری دەستکرد بۆ قوتابی (پرۆسەی کاری قوتابی)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CA3AF"/>
                </a:solidFill>
                <a:latin typeface="Vazirmatn"/>
              </a:defRPr>
            </a:pPr>
            <a:r>
              <a:t>کۆرسی ژیری دەستکرد  •  سلاید 9 لە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2468880" cy="34747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Vazirmatn"/>
              </a:defRPr>
            </a:pPr>
            <a:r>
              <a:t>هەنگاوی ١</a:t>
            </a:r>
          </a:p>
          <a:p>
            <a:pPr algn="ctr">
              <a:spcBef>
                <a:spcPts val="1000"/>
              </a:spcBef>
              <a:defRPr sz="1800" b="1">
                <a:solidFill>
                  <a:srgbClr val="FFFFFF"/>
                </a:solidFill>
                <a:latin typeface="Vazirmatn"/>
              </a:defRPr>
            </a:pPr>
            <a:r>
              <a:t>فایلی PDF / دەق</a:t>
            </a:r>
          </a:p>
          <a:p>
            <a:pPr algn="ctr">
              <a:spcBef>
                <a:spcPts val="1200"/>
              </a:spcBef>
              <a:defRPr sz="1400">
                <a:solidFill>
                  <a:srgbClr val="D1D5DB"/>
                </a:solidFill>
                <a:latin typeface="Vazirmatn"/>
              </a:defRPr>
            </a:pPr>
            <a:r>
              <a:t>داخڵکردنی فایلی وانەکە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011680"/>
            <a:ext cx="2468880" cy="34747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19456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Vazirmatn"/>
              </a:defRPr>
            </a:pPr>
            <a:r>
              <a:t>هەنگاوی ٢</a:t>
            </a:r>
          </a:p>
          <a:p>
            <a:pPr algn="ctr">
              <a:spcBef>
                <a:spcPts val="1000"/>
              </a:spcBef>
              <a:defRPr sz="1800" b="1">
                <a:solidFill>
                  <a:srgbClr val="FFFFFF"/>
                </a:solidFill>
                <a:latin typeface="Vazirmatn"/>
              </a:defRPr>
            </a:pPr>
            <a:r>
              <a:t>کورتکردنەوە</a:t>
            </a:r>
          </a:p>
          <a:p>
            <a:pPr algn="ctr">
              <a:spcBef>
                <a:spcPts val="1200"/>
              </a:spcBef>
              <a:defRPr sz="1400">
                <a:solidFill>
                  <a:srgbClr val="D1D5DB"/>
                </a:solidFill>
                <a:latin typeface="Vazirmatn"/>
              </a:defRPr>
            </a:pPr>
            <a:r>
              <a:t>پوختەی وانەکە بە خاڵ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2468880" cy="34747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19456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Vazirmatn"/>
              </a:defRPr>
            </a:pPr>
            <a:r>
              <a:t>هەنگاوی ٣</a:t>
            </a:r>
          </a:p>
          <a:p>
            <a:pPr algn="ctr">
              <a:spcBef>
                <a:spcPts val="1000"/>
              </a:spcBef>
              <a:defRPr sz="1800" b="1">
                <a:solidFill>
                  <a:srgbClr val="FFFFFF"/>
                </a:solidFill>
                <a:latin typeface="Vazirmatn"/>
              </a:defRPr>
            </a:pPr>
            <a:r>
              <a:t>نەخشەی مێشک &amp; پرسیار</a:t>
            </a:r>
          </a:p>
          <a:p>
            <a:pPr algn="ctr">
              <a:spcBef>
                <a:spcPts val="1200"/>
              </a:spcBef>
              <a:defRPr sz="1400">
                <a:solidFill>
                  <a:srgbClr val="D1D5DB"/>
                </a:solidFill>
                <a:latin typeface="Vazirmatn"/>
              </a:defRPr>
            </a:pPr>
            <a:r>
              <a:t>Mind Map و تاقیکردنەوە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2011680"/>
            <a:ext cx="2468880" cy="34747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219456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Vazirmatn"/>
              </a:defRPr>
            </a:pPr>
            <a:r>
              <a:t>هەنگاوی ٤</a:t>
            </a:r>
          </a:p>
          <a:p>
            <a:pPr algn="ctr">
              <a:spcBef>
                <a:spcPts val="1000"/>
              </a:spcBef>
              <a:defRPr sz="1800" b="1">
                <a:solidFill>
                  <a:srgbClr val="FFFFFF"/>
                </a:solidFill>
                <a:latin typeface="Vazirmatn"/>
              </a:defRPr>
            </a:pPr>
            <a:r>
              <a:t>ئامادەکاری تاقیکردنەوە</a:t>
            </a:r>
          </a:p>
          <a:p>
            <a:pPr algn="ctr">
              <a:spcBef>
                <a:spcPts val="1200"/>
              </a:spcBef>
              <a:defRPr sz="1400">
                <a:solidFill>
                  <a:srgbClr val="D1D5DB"/>
                </a:solidFill>
                <a:latin typeface="Vazirmatn"/>
              </a:defRPr>
            </a:pPr>
            <a:r>
              <a:t>فلاش کارد و پێداچوونەوە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i_doc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0" y="320040"/>
            <a:ext cx="4873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B6D4"/>
                </a:solidFill>
                <a:latin typeface="Vazirmatn"/>
              </a:defRPr>
            </a:pPr>
            <a:r>
              <a:t>« دەبێت کۆمپیوتەر بتوانێت بیربکاتەوە؟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6B6D4"/>
                </a:solidFill>
                <a:latin typeface="Vazirmatn"/>
              </a:defRPr>
            </a:pPr>
            <a:r>
              <a:t>نموونەی پرۆمپت بۆ قوتابیان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600" b="1">
                <a:solidFill>
                  <a:srgbClr val="FFFFFF"/>
                </a:solidFill>
                <a:latin typeface="Vazirmatn"/>
              </a:defRPr>
            </a:pPr>
            <a:r>
              <a:t>بانکی پرۆمپت بۆ قوتابیان (پۆلی ١٢، زانکۆ و فێربوونی زمان)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CA3AF"/>
                </a:solidFill>
                <a:latin typeface="Vazirmatn"/>
              </a:defRPr>
            </a:pPr>
            <a:r>
              <a:t>کۆرسی ژیری دەستکرد  •  سلاید 10 لە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92424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311810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١. پۆلی ١٢ی ئامادەیی</a:t>
            </a:r>
          </a:p>
          <a:p>
            <a:pPr algn="r">
              <a:spcBef>
                <a:spcPts val="1200"/>
              </a:spcBef>
              <a:defRPr sz="1300">
                <a:solidFill>
                  <a:srgbClr val="D1D5DB"/>
                </a:solidFill>
                <a:latin typeface="Vazirmatn"/>
              </a:defRPr>
            </a:pPr>
            <a:r>
              <a:t>«تۆ مامۆستایەکی بیرکاری لێهاتووی پۆلی ١٢ی ئامادەییت. بەندی سێیەم (داتاشراو) لە بابەتی بیرکاری بە کوردی کورت بکەرەوە. پێناسە سەرەکییەکان و سێ نموونەی ڕوونم بۆ بنووسە بە شێوازی هەنگاو بە هەنگاو کە تێگەیشتنی ئاسان بێت.»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8264" y="1645920"/>
            <a:ext cx="3392424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1828800"/>
            <a:ext cx="311810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Vazirmatn"/>
              </a:defRPr>
            </a:pPr>
            <a:r>
              <a:t>٢. خوێندکاری زانکۆ</a:t>
            </a:r>
          </a:p>
          <a:p>
            <a:pPr algn="r">
              <a:spcBef>
                <a:spcPts val="1200"/>
              </a:spcBef>
              <a:defRPr sz="1300">
                <a:solidFill>
                  <a:srgbClr val="D1D5DB"/>
                </a:solidFill>
                <a:latin typeface="Vazirmatn"/>
              </a:defRPr>
            </a:pPr>
            <a:r>
              <a:t>«تۆ خوێندکاری زانکۆیت لە بەشی زانستی کۆمپیوتەر. پوختەیەکی چڕوپڕ و زانستی بۆ توێژینەوەی 'Deep Learning' بە زمانی کوردی بنووسە کە پێکبێت لە کورتە، مێتۆدۆلۆژی، و گرنگترین ئەنجامەکان بە خاڵ بۆ سڵایدی پرێزێنتەیشن.»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645920"/>
            <a:ext cx="3392424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2168" y="1828800"/>
            <a:ext cx="311810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٣. فێربوونی زمان</a:t>
            </a:r>
          </a:p>
          <a:p>
            <a:pPr algn="r">
              <a:spcBef>
                <a:spcPts val="1200"/>
              </a:spcBef>
              <a:defRPr sz="1300">
                <a:solidFill>
                  <a:srgbClr val="D1D5DB"/>
                </a:solidFill>
                <a:latin typeface="Vazirmatn"/>
              </a:defRPr>
            </a:pPr>
            <a:r>
              <a:t>«تۆ مامۆستایەکی زمانی ئینگلیزیت بۆ ئاستی مامناوەند (B1). لیستێک لە ١٠ دەربڕین و فۆرمۆڵی گفتوگۆ لەسەر گەشتکردن و فڕینی فڕۆکە بنووسە بە ئینگلیزی، لەگەڵ مانا و ڕوونکردنەوەی کوردی، و گفتوگۆیەکی نموونەیی.»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i_workflow_n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0" y="320040"/>
            <a:ext cx="4873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B6D4"/>
                </a:solidFill>
                <a:latin typeface="Vazirmatn"/>
              </a:defRPr>
            </a:pPr>
            <a:r>
              <a:t>« دەبێت کۆمپیوتەر بتوانێت بیربکاتەوە؟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6B6D4"/>
                </a:solidFill>
                <a:latin typeface="Vazirmatn"/>
              </a:defRPr>
            </a:pPr>
            <a:r>
              <a:t>بەشی 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600" b="1">
                <a:solidFill>
                  <a:srgbClr val="FFFFFF"/>
                </a:solidFill>
                <a:latin typeface="Vazirmatn"/>
              </a:defRPr>
            </a:pPr>
            <a:r>
              <a:t>ژیری دەستکرد بۆ مامۆستا (پرۆسەی کاری مامۆستا)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CA3AF"/>
                </a:solidFill>
                <a:latin typeface="Vazirmatn"/>
              </a:defRPr>
            </a:pPr>
            <a:r>
              <a:t>کۆرسی ژیری دەستکرد  •  سلاید 11 لە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2468880" cy="34747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Vazirmatn"/>
              </a:defRPr>
            </a:pPr>
            <a:r>
              <a:t>هەنگاوی ١</a:t>
            </a:r>
          </a:p>
          <a:p>
            <a:pPr algn="ctr">
              <a:spcBef>
                <a:spcPts val="1000"/>
              </a:spcBef>
              <a:defRPr sz="1800" b="1">
                <a:solidFill>
                  <a:srgbClr val="FFFFFF"/>
                </a:solidFill>
                <a:latin typeface="Vazirmatn"/>
              </a:defRPr>
            </a:pPr>
            <a:r>
              <a:t>پلانی وانە</a:t>
            </a:r>
          </a:p>
          <a:p>
            <a:pPr algn="ctr">
              <a:spcBef>
                <a:spcPts val="1200"/>
              </a:spcBef>
              <a:defRPr sz="1400">
                <a:solidFill>
                  <a:srgbClr val="D1D5DB"/>
                </a:solidFill>
                <a:latin typeface="Vazirmatn"/>
              </a:defRPr>
            </a:pPr>
            <a:r>
              <a:t>داڕشتنی پلانی وانە (Lesson Plan)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011680"/>
            <a:ext cx="2468880" cy="34747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19456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Vazirmatn"/>
              </a:defRPr>
            </a:pPr>
            <a:r>
              <a:t>هەنگاوی ٢</a:t>
            </a:r>
          </a:p>
          <a:p>
            <a:pPr algn="ctr">
              <a:spcBef>
                <a:spcPts val="1000"/>
              </a:spcBef>
              <a:defRPr sz="1800" b="1">
                <a:solidFill>
                  <a:srgbClr val="FFFFFF"/>
                </a:solidFill>
                <a:latin typeface="Vazirmatn"/>
              </a:defRPr>
            </a:pPr>
            <a:r>
              <a:t>سڵایدەکانی پرێزێنتەیشن</a:t>
            </a:r>
          </a:p>
          <a:p>
            <a:pPr algn="ctr">
              <a:spcBef>
                <a:spcPts val="1200"/>
              </a:spcBef>
              <a:defRPr sz="1400">
                <a:solidFill>
                  <a:srgbClr val="D1D5DB"/>
                </a:solidFill>
                <a:latin typeface="Vazirmatn"/>
              </a:defRPr>
            </a:pPr>
            <a:r>
              <a:t>دروستکردنی سڵایدەکان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2468880" cy="34747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19456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Vazirmatn"/>
              </a:defRPr>
            </a:pPr>
            <a:r>
              <a:t>هەنگاوی ٣</a:t>
            </a:r>
          </a:p>
          <a:p>
            <a:pPr algn="ctr">
              <a:spcBef>
                <a:spcPts val="1000"/>
              </a:spcBef>
              <a:defRPr sz="1800" b="1">
                <a:solidFill>
                  <a:srgbClr val="FFFFFF"/>
                </a:solidFill>
                <a:latin typeface="Vazirmatn"/>
              </a:defRPr>
            </a:pPr>
            <a:r>
              <a:t>پرسیار &amp; پێوەرەکان</a:t>
            </a:r>
          </a:p>
          <a:p>
            <a:pPr algn="ctr">
              <a:spcBef>
                <a:spcPts val="1200"/>
              </a:spcBef>
              <a:defRPr sz="1400">
                <a:solidFill>
                  <a:srgbClr val="D1D5DB"/>
                </a:solidFill>
                <a:latin typeface="Vazirmatn"/>
              </a:defRPr>
            </a:pPr>
            <a:r>
              <a:t>پرسیار و پێوەری هەڵسەنگاندن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2011680"/>
            <a:ext cx="2468880" cy="34747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219456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Vazirmatn"/>
              </a:defRPr>
            </a:pPr>
            <a:r>
              <a:t>هەنگاوی ٤</a:t>
            </a:r>
          </a:p>
          <a:p>
            <a:pPr algn="ctr">
              <a:spcBef>
                <a:spcPts val="1000"/>
              </a:spcBef>
              <a:defRPr sz="1800" b="1">
                <a:solidFill>
                  <a:srgbClr val="FFFFFF"/>
                </a:solidFill>
                <a:latin typeface="Vazirmatn"/>
              </a:defRPr>
            </a:pPr>
            <a:r>
              <a:t>وەڵامی نموونەیی</a:t>
            </a:r>
          </a:p>
          <a:p>
            <a:pPr algn="ctr">
              <a:spcBef>
                <a:spcPts val="1200"/>
              </a:spcBef>
              <a:defRPr sz="1400">
                <a:solidFill>
                  <a:srgbClr val="D1D5DB"/>
                </a:solidFill>
                <a:latin typeface="Vazirmatn"/>
              </a:defRPr>
            </a:pPr>
            <a:r>
              <a:t>وەڵامی ڕاستی تاقیکردنەوە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i_doc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0" y="320040"/>
            <a:ext cx="4873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B6D4"/>
                </a:solidFill>
                <a:latin typeface="Vazirmatn"/>
              </a:defRPr>
            </a:pPr>
            <a:r>
              <a:t>« دەبێت کۆمپیوتەر بتوانێت بیربکاتەوە؟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6B6D4"/>
                </a:solidFill>
                <a:latin typeface="Vazirmatn"/>
              </a:defRPr>
            </a:pPr>
            <a:r>
              <a:t>نموونەی پرۆمپت بۆ مامۆستایان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600" b="1">
                <a:solidFill>
                  <a:srgbClr val="FFFFFF"/>
                </a:solidFill>
                <a:latin typeface="Vazirmatn"/>
              </a:defRPr>
            </a:pPr>
            <a:r>
              <a:t>بانکی پرۆمپت بۆ مامۆستایان (پلان، ڕێگەکانی وانەوتنەوە و هەڵسەنگاندن)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CA3AF"/>
                </a:solidFill>
                <a:latin typeface="Vazirmatn"/>
              </a:defRPr>
            </a:pPr>
            <a:r>
              <a:t>کۆرسی ژیری دەستکرد  •  سلاید 12 لە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92424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311810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١. دروستکردنی پلان &amp; وانە</a:t>
            </a:r>
          </a:p>
          <a:p>
            <a:pPr algn="r">
              <a:spcBef>
                <a:spcPts val="1200"/>
              </a:spcBef>
              <a:defRPr sz="1300">
                <a:solidFill>
                  <a:srgbClr val="D1D5DB"/>
                </a:solidFill>
                <a:latin typeface="Vazirmatn"/>
              </a:defRPr>
            </a:pPr>
            <a:r>
              <a:t>«تۆ شارەزایەکی داڕشتنی مەنهەج و وانەوتناوەیت لە وەزارەتی پەروەردەی هەرێمی کوردستان. پلانێکی وانەی تەواو بۆ بابەتی [ناوی بابەت بنووسە] بنووسە بۆ یەک وانەی ٤٥ خولەکی بە هەموو بەشەکانیەوە...»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8264" y="1645920"/>
            <a:ext cx="3392424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1828800"/>
            <a:ext cx="311810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Vazirmatn"/>
              </a:defRPr>
            </a:pPr>
            <a:r>
              <a:t>٢. ڕێگەکانی وانەوتنەوە</a:t>
            </a:r>
          </a:p>
          <a:p>
            <a:pPr algn="r">
              <a:spcBef>
                <a:spcPts val="1200"/>
              </a:spcBef>
              <a:defRPr sz="1300">
                <a:solidFill>
                  <a:srgbClr val="D1D5DB"/>
                </a:solidFill>
                <a:latin typeface="Vazirmatn"/>
              </a:defRPr>
            </a:pPr>
            <a:r>
              <a:t>«تۆ ڕاهێنەرێکی گەشەپێدانی مامۆستایانیت لە کوردستان. پێشنیاری ٣ ڕێگای مۆدێرن و کارلێکەر بکە بۆ شەرحکردنی بابەتی [بابەتەکە] بە شێوازێک کە قوتابی سەرنجی لای وانەکە بێت...»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645920"/>
            <a:ext cx="3392424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2168" y="1828800"/>
            <a:ext cx="311810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٣. هەڵسەنگاندن &amp; پرسیار</a:t>
            </a:r>
          </a:p>
          <a:p>
            <a:pPr algn="r">
              <a:spcBef>
                <a:spcPts val="1200"/>
              </a:spcBef>
              <a:defRPr sz="1300">
                <a:solidFill>
                  <a:srgbClr val="D1D5DB"/>
                </a:solidFill>
                <a:latin typeface="Vazirmatn"/>
              </a:defRPr>
            </a:pPr>
            <a:r>
              <a:t>«تۆ پسپۆڕی ئامادەکردنی پرسیاری وزاریت لە هەرێم. پێنج پرسیاری فیکری لەسەر بەندی [ناوی بەند] دروستبکە و بەپێی ئاست دابەشیان بکە (ئاسان، مامناوەند، گران) لەگەڵ وەڵامە نموونەییەکان...»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i_workflow_n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0" y="320040"/>
            <a:ext cx="4873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B6D4"/>
                </a:solidFill>
                <a:latin typeface="Vazirmatn"/>
              </a:defRPr>
            </a:pPr>
            <a:r>
              <a:t>« دەبێت کۆمپیوتەر بتوانێت بیربکاتەوە؟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6B6D4"/>
                </a:solidFill>
                <a:latin typeface="Vazirmatn"/>
              </a:defRPr>
            </a:pPr>
            <a:r>
              <a:t>بەشی 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600" b="1">
                <a:solidFill>
                  <a:srgbClr val="FFFFFF"/>
                </a:solidFill>
                <a:latin typeface="Vazirmatn"/>
              </a:defRPr>
            </a:pPr>
            <a:r>
              <a:t>ژیری دەستکرد بۆ خاوەنکار (پرۆسەی کاری خاوەنکار)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CA3AF"/>
                </a:solidFill>
                <a:latin typeface="Vazirmatn"/>
              </a:defRPr>
            </a:pPr>
            <a:r>
              <a:t>کۆرسی ژیری دەستکرد  •  سلاید 13 لە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2468880" cy="34747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Vazirmatn"/>
              </a:defRPr>
            </a:pPr>
            <a:r>
              <a:t>هەنگاوی ١</a:t>
            </a:r>
          </a:p>
          <a:p>
            <a:pPr algn="ctr">
              <a:spcBef>
                <a:spcPts val="1000"/>
              </a:spcBef>
              <a:defRPr sz="1800" b="1">
                <a:solidFill>
                  <a:srgbClr val="FFFFFF"/>
                </a:solidFill>
                <a:latin typeface="Vazirmatn"/>
              </a:defRPr>
            </a:pPr>
            <a:r>
              <a:t>داڕشتنی ئەرکەکان</a:t>
            </a:r>
          </a:p>
          <a:p>
            <a:pPr algn="ctr">
              <a:spcBef>
                <a:spcPts val="1200"/>
              </a:spcBef>
              <a:defRPr sz="1400">
                <a:solidFill>
                  <a:srgbClr val="D1D5DB"/>
                </a:solidFill>
                <a:latin typeface="Vazirmatn"/>
              </a:defRPr>
            </a:pPr>
            <a:r>
              <a:t>دابەشکردن و ڕوونکردنەوەی ئەرکەکان بە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011680"/>
            <a:ext cx="2468880" cy="34747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19456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Vazirmatn"/>
              </a:defRPr>
            </a:pPr>
            <a:r>
              <a:t>هەنگاوی ٢</a:t>
            </a:r>
          </a:p>
          <a:p>
            <a:pPr algn="ctr">
              <a:spcBef>
                <a:spcPts val="1000"/>
              </a:spcBef>
              <a:defRPr sz="1800" b="1">
                <a:solidFill>
                  <a:srgbClr val="FFFFFF"/>
                </a:solidFill>
                <a:latin typeface="Vazirmatn"/>
              </a:defRPr>
            </a:pPr>
            <a:r>
              <a:t>شیتاڵکردنی ڕاپۆرتەکان</a:t>
            </a:r>
          </a:p>
          <a:p>
            <a:pPr algn="ctr">
              <a:spcBef>
                <a:spcPts val="1200"/>
              </a:spcBef>
              <a:defRPr sz="1400">
                <a:solidFill>
                  <a:srgbClr val="D1D5DB"/>
                </a:solidFill>
                <a:latin typeface="Vazirmatn"/>
              </a:defRPr>
            </a:pPr>
            <a:r>
              <a:t>شیکردنەوەی داتای دارایی و فرۆشتن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2468880" cy="34747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19456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Vazirmatn"/>
              </a:defRPr>
            </a:pPr>
            <a:r>
              <a:t>هەنگاوی ٣</a:t>
            </a:r>
          </a:p>
          <a:p>
            <a:pPr algn="ctr">
              <a:spcBef>
                <a:spcPts val="1000"/>
              </a:spcBef>
              <a:defRPr sz="1800" b="1">
                <a:solidFill>
                  <a:srgbClr val="FFFFFF"/>
                </a:solidFill>
                <a:latin typeface="Vazirmatn"/>
              </a:defRPr>
            </a:pPr>
            <a:r>
              <a:t>پێوەری هەڵسەنگاندن</a:t>
            </a:r>
          </a:p>
          <a:p>
            <a:pPr algn="ctr">
              <a:spcBef>
                <a:spcPts val="1200"/>
              </a:spcBef>
              <a:defRPr sz="1400">
                <a:solidFill>
                  <a:srgbClr val="D1D5DB"/>
                </a:solidFill>
                <a:latin typeface="Vazirmatn"/>
              </a:defRPr>
            </a:pPr>
            <a:r>
              <a:t>دروستکردنی پێوەر بۆ ئەدای کارمەندان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2011680"/>
            <a:ext cx="2468880" cy="34747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219456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Vazirmatn"/>
              </a:defRPr>
            </a:pPr>
            <a:r>
              <a:t>هەنگاوی ٤</a:t>
            </a:r>
          </a:p>
          <a:p>
            <a:pPr algn="ctr">
              <a:spcBef>
                <a:spcPts val="1000"/>
              </a:spcBef>
              <a:defRPr sz="1800" b="1">
                <a:solidFill>
                  <a:srgbClr val="FFFFFF"/>
                </a:solidFill>
                <a:latin typeface="Vazirmatn"/>
              </a:defRPr>
            </a:pPr>
            <a:r>
              <a:t>پێدانی فیدباکی بەهێز</a:t>
            </a:r>
          </a:p>
          <a:p>
            <a:pPr algn="ctr">
              <a:spcBef>
                <a:spcPts val="1200"/>
              </a:spcBef>
              <a:defRPr sz="1400">
                <a:solidFill>
                  <a:srgbClr val="D1D5DB"/>
                </a:solidFill>
                <a:latin typeface="Vazirmatn"/>
              </a:defRPr>
            </a:pPr>
            <a:r>
              <a:t>نووسینی وەڵام و فیدباکی ڕێنمایی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i_doc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0" y="320040"/>
            <a:ext cx="4873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B6D4"/>
                </a:solidFill>
                <a:latin typeface="Vazirmatn"/>
              </a:defRPr>
            </a:pPr>
            <a:r>
              <a:t>« دەبێت کۆمپیوتەر بتوانێت بیربکاتەوە؟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6B6D4"/>
                </a:solidFill>
                <a:latin typeface="Vazirmatn"/>
              </a:defRPr>
            </a:pPr>
            <a:r>
              <a:t>نموونەی پرۆمپت بۆ خاوەنکاران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600" b="1">
                <a:solidFill>
                  <a:srgbClr val="FFFFFF"/>
                </a:solidFill>
                <a:latin typeface="Vazirmatn"/>
              </a:defRPr>
            </a:pPr>
            <a:r>
              <a:t>بانکی پرۆمپت بۆ خاوەنکاران (ئەرک، شیکردنەوەی داتا و فیدباک)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CA3AF"/>
                </a:solidFill>
                <a:latin typeface="Vazirmatn"/>
              </a:defRPr>
            </a:pPr>
            <a:r>
              <a:t>کۆرسی ژیری دەستکرد  •  سلاید 14 لە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92424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311810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١. داڕشتنی ئەرکەکان</a:t>
            </a:r>
          </a:p>
          <a:p>
            <a:pPr algn="r">
              <a:spcBef>
                <a:spcPts val="1200"/>
              </a:spcBef>
              <a:defRPr sz="1300">
                <a:solidFill>
                  <a:srgbClr val="D1D5DB"/>
                </a:solidFill>
                <a:latin typeface="Vazirmatn"/>
              </a:defRPr>
            </a:pPr>
            <a:r>
              <a:t>«تۆ بەڕێوبەرێکی لێهاتووی تیمی کارکردنیت. دەمەوێت ئەرکی [ناوی ئەرک] ڕوون بکەیتەوە بۆ کارمەندێکی تیمەکەم بە کوردی: کورتەی ئەرک، هەنگاوەکانی ڕاپەڕاندنی بە زنجیرە، کاتی ڕادەستکردن، و پێوەری قبوڵکردن...»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8264" y="1645920"/>
            <a:ext cx="3392424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1828800"/>
            <a:ext cx="311810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Vazirmatn"/>
              </a:defRPr>
            </a:pPr>
            <a:r>
              <a:t>٢. شیکردنەوەی داتا</a:t>
            </a:r>
          </a:p>
          <a:p>
            <a:pPr algn="r">
              <a:spcBef>
                <a:spcPts val="1200"/>
              </a:spcBef>
              <a:defRPr sz="1300">
                <a:solidFill>
                  <a:srgbClr val="D1D5DB"/>
                </a:solidFill>
                <a:latin typeface="Vazirmatn"/>
              </a:defRPr>
            </a:pPr>
            <a:r>
              <a:t>«تۆ ڕاوێژکارێکی ستراتیژی بزنسیت. ئەم داتایە دارایی یان فرۆشتنەم بۆ شیکار بکە. گرنگترین ٣ خاڵی بەهێز، ٣ کێشە، و ٣ پێشنیاری کرداری کورت بۆ مانگی داهاتوو دەربکە...»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645920"/>
            <a:ext cx="3392424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2168" y="1828800"/>
            <a:ext cx="311810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٣. فیدباکی کارمەند</a:t>
            </a:r>
          </a:p>
          <a:p>
            <a:pPr algn="r">
              <a:spcBef>
                <a:spcPts val="1200"/>
              </a:spcBef>
              <a:defRPr sz="1300">
                <a:solidFill>
                  <a:srgbClr val="D1D5DB"/>
                </a:solidFill>
                <a:latin typeface="Vazirmatn"/>
              </a:defRPr>
            </a:pPr>
            <a:r>
              <a:t>«تۆ بەڕێوبەری سەرچاوە مرۆییەکان (HR)یت. فیدباکێکی فەرمی بۆ کارمەندێک بنووسە بە کوردی کە کێشەی [کێشەکە] هەیە. فیدباکەکە بە شێوازی ساندویچ بێت (ستایش، باسی کێشەکە، و هاندانی کۆتایی)...»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i_doc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0" y="320040"/>
            <a:ext cx="4873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B6D4"/>
                </a:solidFill>
                <a:latin typeface="Vazirmatn"/>
              </a:defRPr>
            </a:pPr>
            <a:r>
              <a:t>« دەبێت کۆمپیوتەر بتوانێت بیربکاتەوە؟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6B6D4"/>
                </a:solidFill>
                <a:latin typeface="Vazirmatn"/>
              </a:defRPr>
            </a:pPr>
            <a:r>
              <a:t>بەشی ٧ (بزنس)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600" b="1">
                <a:solidFill>
                  <a:srgbClr val="FFFFFF"/>
                </a:solidFill>
                <a:latin typeface="Vazirmatn"/>
              </a:defRPr>
            </a:pPr>
            <a:r>
              <a:t>ژیری دەستکرد بۆ بزنس (پرۆسەی کاری بزنس)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CA3AF"/>
                </a:solidFill>
                <a:latin typeface="Vazirmatn"/>
              </a:defRPr>
            </a:pPr>
            <a:r>
              <a:t>کۆرسی ژیری دەستکرد  •  سلاید 15 لە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925726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65140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بیرۆکە &amp; پلانی بزنس</a:t>
            </a:r>
          </a:p>
          <a:p>
            <a:pPr algn="r">
              <a:spcBef>
                <a:spcPts val="1200"/>
              </a:spcBef>
              <a:defRPr sz="1300">
                <a:solidFill>
                  <a:srgbClr val="D1D5DB"/>
                </a:solidFill>
                <a:latin typeface="Vazirmatn"/>
              </a:defRPr>
            </a:pPr>
            <a:r>
              <a:t>پلانی بازرگانی، وەرگرتنی ناو و لۆگۆ.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31566" y="1645920"/>
            <a:ext cx="1925726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8726" y="1828800"/>
            <a:ext cx="165140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Vazirmatn"/>
              </a:defRPr>
            </a:pPr>
            <a:r>
              <a:t>مینۆ &amp; ناسنامە</a:t>
            </a:r>
          </a:p>
          <a:p>
            <a:pPr algn="r">
              <a:spcBef>
                <a:spcPts val="1200"/>
              </a:spcBef>
              <a:defRPr sz="1300">
                <a:solidFill>
                  <a:srgbClr val="D1D5DB"/>
                </a:solidFill>
                <a:latin typeface="Vazirmatn"/>
              </a:defRPr>
            </a:pPr>
            <a:r>
              <a:t>داڕشتنی کاڵا، مینۆ و براندینگ.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31612" y="1645920"/>
            <a:ext cx="1925726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68772" y="1828800"/>
            <a:ext cx="165140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سۆشیال میدیا &amp; ڕیکلام</a:t>
            </a:r>
          </a:p>
          <a:p>
            <a:pPr algn="r">
              <a:spcBef>
                <a:spcPts val="1200"/>
              </a:spcBef>
              <a:defRPr sz="1300">
                <a:solidFill>
                  <a:srgbClr val="D1D5DB"/>
                </a:solidFill>
                <a:latin typeface="Vazirmatn"/>
              </a:defRPr>
            </a:pPr>
            <a:r>
              <a:t>نووسینی دەقی ڕیکلام و دروستکردنی وێنە/ڤیدیۆ.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31659" y="1645920"/>
            <a:ext cx="1925726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68819" y="1828800"/>
            <a:ext cx="165140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Vazirmatn"/>
              </a:defRPr>
            </a:pPr>
            <a:r>
              <a:t>وەڵامدانی کڕیار</a:t>
            </a:r>
          </a:p>
          <a:p>
            <a:pPr algn="r">
              <a:spcBef>
                <a:spcPts val="1200"/>
              </a:spcBef>
              <a:defRPr sz="1300">
                <a:solidFill>
                  <a:srgbClr val="D1D5DB"/>
                </a:solidFill>
                <a:latin typeface="Vazirmatn"/>
              </a:defRPr>
            </a:pPr>
            <a:r>
              <a:t>ئۆتۆماتیکردنی وەڵامی کڕیاران و پێداچوونەوە.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31705" y="1645920"/>
            <a:ext cx="1925726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68865" y="1828800"/>
            <a:ext cx="165140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پلانی گەشەپێدان</a:t>
            </a:r>
          </a:p>
          <a:p>
            <a:pPr algn="r">
              <a:spcBef>
                <a:spcPts val="1200"/>
              </a:spcBef>
              <a:defRPr sz="1300">
                <a:solidFill>
                  <a:srgbClr val="D1D5DB"/>
                </a:solidFill>
                <a:latin typeface="Vazirmatn"/>
              </a:defRPr>
            </a:pPr>
            <a:r>
              <a:t>شیکاری دارایی و ڕاپۆرتی گەشەپێدان.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i_doc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0" y="320040"/>
            <a:ext cx="4873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B6D4"/>
                </a:solidFill>
                <a:latin typeface="Vazirmatn"/>
              </a:defRPr>
            </a:pPr>
            <a:r>
              <a:t>« دەبێت کۆمپیوتەر بتوانێت بیربکاتەوە؟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6B6D4"/>
                </a:solidFill>
                <a:latin typeface="Vazirmatn"/>
              </a:defRPr>
            </a:pPr>
            <a:r>
              <a:t>نموونەی پرۆمپت بۆ بزنس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600" b="1">
                <a:solidFill>
                  <a:srgbClr val="FFFFFF"/>
                </a:solidFill>
                <a:latin typeface="Vazirmatn"/>
              </a:defRPr>
            </a:pPr>
            <a:r>
              <a:t>بانکی پرۆمپت بۆ بزنس (پلاندانان، ڕیکلام و پشتگیری)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CA3AF"/>
                </a:solidFill>
                <a:latin typeface="Vazirmatn"/>
              </a:defRPr>
            </a:pPr>
            <a:r>
              <a:t>کۆرسی ژیری دەستکرد  •  سلاید 16 لە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92424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311810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١. داڕشتنی پلان &amp; ناو</a:t>
            </a:r>
          </a:p>
          <a:p>
            <a:pPr algn="r">
              <a:spcBef>
                <a:spcPts val="1200"/>
              </a:spcBef>
              <a:defRPr sz="1300">
                <a:solidFill>
                  <a:srgbClr val="D1D5DB"/>
                </a:solidFill>
                <a:latin typeface="Vazirmatn"/>
              </a:defRPr>
            </a:pPr>
            <a:r>
              <a:t>«تۆ ڕاوێژکارێکی داهێنەری بزنسیت. دەمەوێت بزنسێکی نوێی [جۆری بزنس] لە شاری [شارەکە] دابمەزرێنم. پێشنیاری ٥ ناوی کوردی، دروشمێکی بازرگانی و لیستێک لە ٣ کێشە و چارەسەریان لە بازاڕدا بکە...»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8264" y="1645920"/>
            <a:ext cx="3392424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1828800"/>
            <a:ext cx="311810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Vazirmatn"/>
              </a:defRPr>
            </a:pPr>
            <a:r>
              <a:t>٢. نووسینی ڕیکلام</a:t>
            </a:r>
          </a:p>
          <a:p>
            <a:pPr algn="r">
              <a:spcBef>
                <a:spcPts val="1200"/>
              </a:spcBef>
              <a:defRPr sz="1300">
                <a:solidFill>
                  <a:srgbClr val="D1D5DB"/>
                </a:solidFill>
                <a:latin typeface="Vazirmatn"/>
              </a:defRPr>
            </a:pPr>
            <a:r>
              <a:t>«تۆ کۆپیرایتەرێکی لێهاتوویت. دەقێکی ڕیکلامی فەیسبووک و ئینستاگرام بە کوردی بۆ فرۆشتنی [کاڵاکە] بنووسە. بە پرسیار دەستپێبکات، باسی سوودەکان بکات، CTA و ئێمۆجی تێدابێت...»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645920"/>
            <a:ext cx="3392424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2168" y="1828800"/>
            <a:ext cx="311810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٣. پشتگیری کڕیاران</a:t>
            </a:r>
          </a:p>
          <a:p>
            <a:pPr algn="r">
              <a:spcBef>
                <a:spcPts val="1200"/>
              </a:spcBef>
              <a:defRPr sz="1300">
                <a:solidFill>
                  <a:srgbClr val="D1D5DB"/>
                </a:solidFill>
                <a:latin typeface="Vazirmatn"/>
              </a:defRPr>
            </a:pPr>
            <a:r>
              <a:t>«تۆ نوێنەری پشتگیری پیشەیی کڕیاریت. نامەیەکی ڕێزدارانەی پۆزشن بە کوردی بنووسە بۆ کڕیارێک کە کێشەی [کێشەکە] هەیە. داوای لێبوردن، پێشنیارکردنی چارەسەر و دیاری قەرەبووکردنەوە تێدابێت...»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i_workflow_n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0" y="320040"/>
            <a:ext cx="4873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B6D4"/>
                </a:solidFill>
                <a:latin typeface="Vazirmatn"/>
              </a:defRPr>
            </a:pPr>
            <a:r>
              <a:t>« دەبێت کۆمپیوتەر بتوانێت بیربکاتەوە؟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6B6D4"/>
                </a:solidFill>
                <a:latin typeface="Vazirmatn"/>
              </a:defRPr>
            </a:pPr>
            <a:r>
              <a:t>بەشی 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600" b="1">
                <a:solidFill>
                  <a:srgbClr val="FFFFFF"/>
                </a:solidFill>
                <a:latin typeface="Vazirmatn"/>
              </a:defRPr>
            </a:pPr>
            <a:r>
              <a:t>ژیری دەستکرد بۆ گەشەپێدەر (پرۆسەی کاری گەشەپێدەر)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CA3AF"/>
                </a:solidFill>
                <a:latin typeface="Vazirmatn"/>
              </a:defRPr>
            </a:pPr>
            <a:r>
              <a:t>کۆرسی ژیری دەستکرد  •  سلاید 17 لە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2468880" cy="34747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Vazirmatn"/>
              </a:defRPr>
            </a:pPr>
            <a:r>
              <a:t>هەنگاوی ١</a:t>
            </a:r>
          </a:p>
          <a:p>
            <a:pPr algn="ctr">
              <a:spcBef>
                <a:spcPts val="1000"/>
              </a:spcBef>
              <a:defRPr sz="1800" b="1">
                <a:solidFill>
                  <a:srgbClr val="FFFFFF"/>
                </a:solidFill>
                <a:latin typeface="Vazirmatn"/>
              </a:defRPr>
            </a:pPr>
            <a:r>
              <a:t>بیرۆکە &amp; پرۆمپت</a:t>
            </a:r>
          </a:p>
          <a:p>
            <a:pPr algn="ctr">
              <a:spcBef>
                <a:spcPts val="1200"/>
              </a:spcBef>
              <a:defRPr sz="1400">
                <a:solidFill>
                  <a:srgbClr val="D1D5DB"/>
                </a:solidFill>
                <a:latin typeface="Vazirmatn"/>
              </a:defRPr>
            </a:pPr>
            <a:r>
              <a:t>داواکاری سیستەمەکە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011680"/>
            <a:ext cx="2468880" cy="34747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19456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Vazirmatn"/>
              </a:defRPr>
            </a:pPr>
            <a:r>
              <a:t>هەنگاوی ٢</a:t>
            </a:r>
          </a:p>
          <a:p>
            <a:pPr algn="ctr">
              <a:spcBef>
                <a:spcPts val="1000"/>
              </a:spcBef>
              <a:defRPr sz="1800" b="1">
                <a:solidFill>
                  <a:srgbClr val="FFFFFF"/>
                </a:solidFill>
                <a:latin typeface="Vazirmatn"/>
              </a:defRPr>
            </a:pPr>
            <a:r>
              <a:t>کۆدکردن بە AI</a:t>
            </a:r>
          </a:p>
          <a:p>
            <a:pPr algn="ctr">
              <a:spcBef>
                <a:spcPts val="1200"/>
              </a:spcBef>
              <a:defRPr sz="1400">
                <a:solidFill>
                  <a:srgbClr val="D1D5DB"/>
                </a:solidFill>
                <a:latin typeface="Vazirmatn"/>
              </a:defRPr>
            </a:pPr>
            <a:r>
              <a:t>Flutter, Laravel, Python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2468880" cy="34747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19456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Vazirmatn"/>
              </a:defRPr>
            </a:pPr>
            <a:r>
              <a:t>هەنگاوی ٣</a:t>
            </a:r>
          </a:p>
          <a:p>
            <a:pPr algn="ctr">
              <a:spcBef>
                <a:spcPts val="1000"/>
              </a:spcBef>
              <a:defRPr sz="1800" b="1">
                <a:solidFill>
                  <a:srgbClr val="FFFFFF"/>
                </a:solidFill>
                <a:latin typeface="Vazirmatn"/>
              </a:defRPr>
            </a:pPr>
            <a:r>
              <a:t>چاککردنی هەڵەکان</a:t>
            </a:r>
          </a:p>
          <a:p>
            <a:pPr algn="ctr">
              <a:spcBef>
                <a:spcPts val="1200"/>
              </a:spcBef>
              <a:defRPr sz="1400">
                <a:solidFill>
                  <a:srgbClr val="D1D5DB"/>
                </a:solidFill>
                <a:latin typeface="Vazirmatn"/>
              </a:defRPr>
            </a:pPr>
            <a:r>
              <a:t>Debug &amp; Refactor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2011680"/>
            <a:ext cx="2468880" cy="34747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219456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Vazirmatn"/>
              </a:defRPr>
            </a:pPr>
            <a:r>
              <a:t>هەنگاوی ٤</a:t>
            </a:r>
          </a:p>
          <a:p>
            <a:pPr algn="ctr">
              <a:spcBef>
                <a:spcPts val="1000"/>
              </a:spcBef>
              <a:defRPr sz="1800" b="1">
                <a:solidFill>
                  <a:srgbClr val="FFFFFF"/>
                </a:solidFill>
                <a:latin typeface="Vazirmatn"/>
              </a:defRPr>
            </a:pPr>
            <a:r>
              <a:t>بڵاوکردنەوە &amp; بەڵگەنامە</a:t>
            </a:r>
          </a:p>
          <a:p>
            <a:pPr algn="ctr">
              <a:spcBef>
                <a:spcPts val="1200"/>
              </a:spcBef>
              <a:defRPr sz="1400">
                <a:solidFill>
                  <a:srgbClr val="D1D5DB"/>
                </a:solidFill>
                <a:latin typeface="Vazirmatn"/>
              </a:defRPr>
            </a:pPr>
            <a:r>
              <a:t>Deploy &amp; Docs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ero_ai_fu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0" y="320040"/>
            <a:ext cx="4873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B6D4"/>
                </a:solidFill>
                <a:latin typeface="Vazirmatn"/>
              </a:defRPr>
            </a:pPr>
            <a:r>
              <a:t>« دەبێت کۆمپیوتەر بتوانێت بیربکاتەوە؟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CA3AF"/>
                </a:solidFill>
                <a:latin typeface="Vazirmatn"/>
              </a:defRPr>
            </a:pPr>
            <a:r>
              <a:t>کۆرسی ژیری دەستکرد  •  سلاید 18 لە 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097280"/>
            <a:ext cx="9445752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645920"/>
            <a:ext cx="88971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400"/>
              </a:spcBef>
              <a:defRPr sz="3600" b="1">
                <a:solidFill>
                  <a:srgbClr val="FFFFFF"/>
                </a:solidFill>
                <a:latin typeface="Vazirmatn"/>
              </a:defRPr>
            </a:pPr>
            <a:r>
              <a:t>کۆفی برێک (١٥ خولەک)</a:t>
            </a:r>
          </a:p>
          <a:p>
            <a:pPr algn="ctr">
              <a:spcBef>
                <a:spcPts val="1400"/>
              </a:spcBef>
              <a:defRPr sz="1800">
                <a:solidFill>
                  <a:srgbClr val="D1D5DB"/>
                </a:solidFill>
                <a:latin typeface="Vazirmatn"/>
              </a:defRPr>
            </a:pPr>
            <a:r>
              <a:t>پاش گەڕانەوە دەست دەکەین بە بەکارهێنانی AI بۆ دیزاینەر، تێگەیشتن لە مەترسییەکان و پێشاندانی دێمۆی ڕاستەوخۆ.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i_doc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0" y="320040"/>
            <a:ext cx="4873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B6D4"/>
                </a:solidFill>
                <a:latin typeface="Vazirmatn"/>
              </a:defRPr>
            </a:pPr>
            <a:r>
              <a:t>« دەبێت کۆمپیوتەر بتوانێت بیربکاتەوە؟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6B6D4"/>
                </a:solidFill>
                <a:latin typeface="Vazirmatn"/>
              </a:defRPr>
            </a:pPr>
            <a:r>
              <a:t>بەشی 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600" b="1">
                <a:solidFill>
                  <a:srgbClr val="FFFFFF"/>
                </a:solidFill>
                <a:latin typeface="Vazirmatn"/>
              </a:defRPr>
            </a:pPr>
            <a:r>
              <a:t>ژیری دەستکرد بۆ دیزاینەر (ئامرازەکانی دیزاین و وێنەکان)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CA3AF"/>
                </a:solidFill>
                <a:latin typeface="Vazirmatn"/>
              </a:defRPr>
            </a:pPr>
            <a:r>
              <a:t>کۆرسی ژیری دەستکرد  •  سلاید 19 لە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925726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65140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میدجۆرنی / چات جیپیتی</a:t>
            </a:r>
          </a:p>
          <a:p>
            <a:pPr algn="r">
              <a:spcBef>
                <a:spcPts val="1200"/>
              </a:spcBef>
              <a:defRPr sz="1300">
                <a:solidFill>
                  <a:srgbClr val="D1D5DB"/>
                </a:solidFill>
                <a:latin typeface="Vazirmatn"/>
              </a:defRPr>
            </a:pPr>
            <a:r>
              <a:t>دروستکردنی بیرۆکە و وێنەی گرافیکی بەرز.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31566" y="1645920"/>
            <a:ext cx="1925726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8726" y="1828800"/>
            <a:ext cx="165140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Vazirmatn"/>
              </a:defRPr>
            </a:pPr>
            <a:r>
              <a:t>ئیمەیجن / ڤیۆ (Imagen / Veo)</a:t>
            </a:r>
          </a:p>
          <a:p>
            <a:pPr algn="r">
              <a:spcBef>
                <a:spcPts val="1200"/>
              </a:spcBef>
              <a:defRPr sz="1300">
                <a:solidFill>
                  <a:srgbClr val="D1D5DB"/>
                </a:solidFill>
                <a:latin typeface="Vazirmatn"/>
              </a:defRPr>
            </a:pPr>
            <a:r>
              <a:t>دروستکردنی وێنەی واقیعی و ڤیدیۆ بە AI.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31612" y="1645920"/>
            <a:ext cx="1925726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68772" y="1828800"/>
            <a:ext cx="165140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کانڤا (Canva AI)</a:t>
            </a:r>
          </a:p>
          <a:p>
            <a:pPr algn="r">
              <a:spcBef>
                <a:spcPts val="1200"/>
              </a:spcBef>
              <a:defRPr sz="1300">
                <a:solidFill>
                  <a:srgbClr val="D1D5DB"/>
                </a:solidFill>
                <a:latin typeface="Vazirmatn"/>
              </a:defRPr>
            </a:pPr>
            <a:r>
              <a:t>دیزاینی پۆستەر و سۆشیال میدیا بە خێرایی.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31659" y="1645920"/>
            <a:ext cx="1925726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68819" y="1828800"/>
            <a:ext cx="165140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Vazirmatn"/>
              </a:defRPr>
            </a:pPr>
            <a:r>
              <a:t>دەنگی دەستکرد (AI Voice)</a:t>
            </a:r>
          </a:p>
          <a:p>
            <a:pPr algn="r">
              <a:spcBef>
                <a:spcPts val="1200"/>
              </a:spcBef>
              <a:defRPr sz="1300">
                <a:solidFill>
                  <a:srgbClr val="D1D5DB"/>
                </a:solidFill>
                <a:latin typeface="Vazirmatn"/>
              </a:defRPr>
            </a:pPr>
            <a:r>
              <a:t>دروستکردنی دەنگی سروشتی بۆ ڕیکلام.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31705" y="1645920"/>
            <a:ext cx="1925726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68865" y="1828800"/>
            <a:ext cx="165140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لۆگۆ &amp; براندینگ</a:t>
            </a:r>
          </a:p>
          <a:p>
            <a:pPr algn="r">
              <a:spcBef>
                <a:spcPts val="1200"/>
              </a:spcBef>
              <a:defRPr sz="1300">
                <a:solidFill>
                  <a:srgbClr val="D1D5DB"/>
                </a:solidFill>
                <a:latin typeface="Vazirmatn"/>
              </a:defRPr>
            </a:pPr>
            <a:r>
              <a:t>دیزاینی ڕەمزی بازرگانی و پۆستەر.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i_doc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0" y="320040"/>
            <a:ext cx="4873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B6D4"/>
                </a:solidFill>
                <a:latin typeface="Vazirmatn"/>
              </a:defRPr>
            </a:pPr>
            <a:r>
              <a:t>« دەبێت کۆمپیوتەر بتوانێت بیربکاتەوە؟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6B6D4"/>
                </a:solidFill>
                <a:latin typeface="Vazirmatn"/>
              </a:defRPr>
            </a:pPr>
            <a:r>
              <a:t>نموونەی پرۆمپت بۆ دیزاینەران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600" b="1">
                <a:solidFill>
                  <a:srgbClr val="FFFFFF"/>
                </a:solidFill>
                <a:latin typeface="Vazirmatn"/>
              </a:defRPr>
            </a:pPr>
            <a:r>
              <a:t>بانکی پرۆمپت بۆ دیزاین و دروستکردنی میدیا (وێنە و ڤیدیۆی دڵ)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CA3AF"/>
                </a:solidFill>
                <a:latin typeface="Vazirmatn"/>
              </a:defRPr>
            </a:pPr>
            <a:r>
              <a:t>کۆرسی ژیری دەستکرد  •  سلاید 20 لە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92424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311810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١. دروستکردنی وێنە</a:t>
            </a:r>
          </a:p>
          <a:p>
            <a:pPr algn="r">
              <a:spcBef>
                <a:spcPts val="1200"/>
              </a:spcBef>
              <a:defRPr sz="1300">
                <a:solidFill>
                  <a:srgbClr val="D1D5DB"/>
                </a:solidFill>
                <a:latin typeface="Vazirmatn"/>
              </a:defRPr>
            </a:pPr>
            <a:r>
              <a:t>«A highly detailed medical illustration of the human heart, showing the chambers, aorta. Scientifically accurate, 3D render, realistic textures, labeled, clean dark background --ar 16:9»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8264" y="1645920"/>
            <a:ext cx="3392424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1828800"/>
            <a:ext cx="311810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Vazirmatn"/>
              </a:defRPr>
            </a:pPr>
            <a:r>
              <a:t>٢. گۆڕین بۆ ڤیدیۆ</a:t>
            </a:r>
          </a:p>
          <a:p>
            <a:pPr algn="r">
              <a:spcBef>
                <a:spcPts val="1200"/>
              </a:spcBef>
              <a:defRPr sz="1300">
                <a:solidFill>
                  <a:srgbClr val="D1D5DB"/>
                </a:solidFill>
                <a:latin typeface="Vazirmatn"/>
              </a:defRPr>
            </a:pPr>
            <a:r>
              <a:t>«Medically accurate animation of a human heart beating rhythmically in slow motion, camera panning slowly around the chambers, highly detailed CGI, 60fps»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645920"/>
            <a:ext cx="3392424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2168" y="1828800"/>
            <a:ext cx="311810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٣. دیزاین و پۆستەر</a:t>
            </a:r>
          </a:p>
          <a:p>
            <a:pPr algn="r">
              <a:spcBef>
                <a:spcPts val="1200"/>
              </a:spcBef>
              <a:defRPr sz="1300">
                <a:solidFill>
                  <a:srgbClr val="D1D5DB"/>
                </a:solidFill>
                <a:latin typeface="Vazirmatn"/>
              </a:defRPr>
            </a:pPr>
            <a:r>
              <a:t>«A modern educational poster layout for a biology class about the heart anatomy. Minimalist design, clean typography, space for kurdish text, vector icons --ar 3:4»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i_doc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0" y="320040"/>
            <a:ext cx="4873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B6D4"/>
                </a:solidFill>
                <a:latin typeface="Vazirmatn"/>
              </a:defRPr>
            </a:pPr>
            <a:r>
              <a:t>« دەبێت کۆمپیوتەر بتوانێت بیربکاتەوە؟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6B6D4"/>
                </a:solidFill>
                <a:latin typeface="Vazirmatn"/>
              </a:defRPr>
            </a:pPr>
            <a:r>
              <a:t>بەشی ١٠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600" b="1">
                <a:solidFill>
                  <a:srgbClr val="FFFFFF"/>
                </a:solidFill>
                <a:latin typeface="Vazirmatn"/>
              </a:defRPr>
            </a:pPr>
            <a:r>
              <a:t>کاریگەری و سنوورەکانی AI (مەترسی و ڕەوشتەکان)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CA3AF"/>
                </a:solidFill>
                <a:latin typeface="Vazirmatn"/>
              </a:defRPr>
            </a:pPr>
            <a:r>
              <a:t>کۆرسی ژیری دەستکرد  •  سلاید 21 لە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925726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65140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دروستکردنی وەهم (Hallucination)</a:t>
            </a:r>
          </a:p>
          <a:p>
            <a:pPr algn="r">
              <a:spcBef>
                <a:spcPts val="1200"/>
              </a:spcBef>
              <a:defRPr sz="1300">
                <a:solidFill>
                  <a:srgbClr val="D1D5DB"/>
                </a:solidFill>
                <a:latin typeface="Vazirmatn"/>
              </a:defRPr>
            </a:pPr>
            <a:r>
              <a:t>AI هەندێک جار زانیاری هەڵە دروست دەکات بە زاهیرێکی ڕاست!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31566" y="1645920"/>
            <a:ext cx="1925726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8726" y="1828800"/>
            <a:ext cx="165140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Vazirmatn"/>
              </a:defRPr>
            </a:pPr>
            <a:r>
              <a:t>مافی کۆپی (Copyright)</a:t>
            </a:r>
          </a:p>
          <a:p>
            <a:pPr algn="r">
              <a:spcBef>
                <a:spcPts val="1200"/>
              </a:spcBef>
              <a:defRPr sz="1300">
                <a:solidFill>
                  <a:srgbClr val="D1D5DB"/>
                </a:solidFill>
                <a:latin typeface="Vazirmatn"/>
              </a:defRPr>
            </a:pPr>
            <a:r>
              <a:t>خاوەندارێتی داتا و وێنە دروستکراوەکان بە AI.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31612" y="1645920"/>
            <a:ext cx="1925726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68772" y="1828800"/>
            <a:ext cx="165140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تایبەتمەندی (Privacy)</a:t>
            </a:r>
          </a:p>
          <a:p>
            <a:pPr algn="r">
              <a:spcBef>
                <a:spcPts val="1200"/>
              </a:spcBef>
              <a:defRPr sz="1300">
                <a:solidFill>
                  <a:srgbClr val="D1D5DB"/>
                </a:solidFill>
                <a:latin typeface="Vazirmatn"/>
              </a:defRPr>
            </a:pPr>
            <a:r>
              <a:t>پاراستنی داتای هەستیار و زانیاری کڕیار لە مۆدێلەکان.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31659" y="1645920"/>
            <a:ext cx="1925726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68819" y="1828800"/>
            <a:ext cx="165140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Vazirmatn"/>
              </a:defRPr>
            </a:pPr>
            <a:r>
              <a:t>دیپ فەیک &amp; هەواڵی ساختە</a:t>
            </a:r>
          </a:p>
          <a:p>
            <a:pPr algn="r">
              <a:spcBef>
                <a:spcPts val="1200"/>
              </a:spcBef>
              <a:defRPr sz="1300">
                <a:solidFill>
                  <a:srgbClr val="D1D5DB"/>
                </a:solidFill>
                <a:latin typeface="Vazirmatn"/>
              </a:defRPr>
            </a:pPr>
            <a:r>
              <a:t>ڤیدیۆ و دەنگی ساختە، و ناسینەوەی زانیاری هەڵە.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31705" y="1645920"/>
            <a:ext cx="1925726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68865" y="1828800"/>
            <a:ext cx="165140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پشکنینی مرۆڤ</a:t>
            </a:r>
          </a:p>
          <a:p>
            <a:pPr algn="r">
              <a:spcBef>
                <a:spcPts val="1200"/>
              </a:spcBef>
              <a:defRPr sz="1300">
                <a:solidFill>
                  <a:srgbClr val="D1D5DB"/>
                </a:solidFill>
                <a:latin typeface="Vazirmatn"/>
              </a:defRPr>
            </a:pPr>
            <a:r>
              <a:t>هەمیشە دەبێت مرۆڤ پێداچوونەوە بۆ دەرئەنجامەکانی AI بکات.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i_doc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0" y="320040"/>
            <a:ext cx="4873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B6D4"/>
                </a:solidFill>
                <a:latin typeface="Vazirmatn"/>
              </a:defRPr>
            </a:pPr>
            <a:r>
              <a:t>« دەبێت کۆمپیوتەر بتوانێت بیربکاتەوە؟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6B6D4"/>
                </a:solidFill>
                <a:latin typeface="Vazirmatn"/>
              </a:defRPr>
            </a:pPr>
            <a:r>
              <a:t>بەشی ١١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600" b="1">
                <a:solidFill>
                  <a:srgbClr val="FFFFFF"/>
                </a:solidFill>
                <a:latin typeface="Vazirmatn"/>
              </a:defRPr>
            </a:pPr>
            <a:r>
              <a:t>نموونەی ڕاستەوخۆ (Live Demos)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CA3AF"/>
                </a:solidFill>
                <a:latin typeface="Vazirmatn"/>
              </a:defRPr>
            </a:pPr>
            <a:r>
              <a:t>کۆرسی ژیری دەستکرد  •  سلاید 22 لە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29184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کورتکردنەوەی PDF</a:t>
            </a:r>
          </a:p>
          <a:p>
            <a:pPr algn="r">
              <a:spcBef>
                <a:spcPts val="400"/>
              </a:spcBef>
              <a:defRPr sz="1500" b="1">
                <a:solidFill>
                  <a:srgbClr val="FFFFFF"/>
                </a:solidFill>
                <a:latin typeface="Vazirmatn"/>
              </a:defRPr>
            </a:pPr>
            <a:r>
              <a:t>کورتکردنەوەی فایلی درێژ</a:t>
            </a:r>
          </a:p>
          <a:p>
            <a:pPr algn="r">
              <a:spcBef>
                <a:spcPts val="400"/>
              </a:spcBef>
              <a:defRPr sz="1200">
                <a:solidFill>
                  <a:srgbClr val="D1D5DB"/>
                </a:solidFill>
                <a:latin typeface="Vazirmatn"/>
              </a:defRPr>
            </a:pPr>
            <a:r>
              <a:t>دێمۆی خوێندنەوەی PDF لە چەند چركەیەکدا.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78308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ئیمەیلی فەرمی</a:t>
            </a:r>
          </a:p>
          <a:p>
            <a:pPr algn="r">
              <a:spcBef>
                <a:spcPts val="400"/>
              </a:spcBef>
              <a:defRPr sz="1500" b="1">
                <a:solidFill>
                  <a:srgbClr val="FFFFFF"/>
                </a:solidFill>
                <a:latin typeface="Vazirmatn"/>
              </a:defRPr>
            </a:pPr>
            <a:r>
              <a:t>ئیمەیلی فەرمی</a:t>
            </a:r>
          </a:p>
          <a:p>
            <a:pPr algn="r">
              <a:spcBef>
                <a:spcPts val="400"/>
              </a:spcBef>
              <a:defRPr sz="1200">
                <a:solidFill>
                  <a:srgbClr val="D1D5DB"/>
                </a:solidFill>
                <a:latin typeface="Vazirmatn"/>
              </a:defRPr>
            </a:pPr>
            <a:r>
              <a:t>نووسینی ئیمەیل بە تۆنی گونجاو.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78308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پاوەرپۆینت</a:t>
            </a:r>
          </a:p>
          <a:p>
            <a:pPr algn="r">
              <a:spcBef>
                <a:spcPts val="400"/>
              </a:spcBef>
              <a:defRPr sz="1500" b="1">
                <a:solidFill>
                  <a:srgbClr val="FFFFFF"/>
                </a:solidFill>
                <a:latin typeface="Vazirmatn"/>
              </a:defRPr>
            </a:pPr>
            <a:r>
              <a:t>سڵایدی خۆکار</a:t>
            </a:r>
          </a:p>
          <a:p>
            <a:pPr algn="r">
              <a:spcBef>
                <a:spcPts val="400"/>
              </a:spcBef>
              <a:defRPr sz="1200">
                <a:solidFill>
                  <a:srgbClr val="D1D5DB"/>
                </a:solidFill>
                <a:latin typeface="Vazirmatn"/>
              </a:defRPr>
            </a:pPr>
            <a:r>
              <a:t>دروستکردنی پرێزێنتەیشن لە دەقەوە.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329184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776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پلانی بزنس</a:t>
            </a:r>
          </a:p>
          <a:p>
            <a:pPr algn="r">
              <a:spcBef>
                <a:spcPts val="400"/>
              </a:spcBef>
              <a:defRPr sz="1500" b="1">
                <a:solidFill>
                  <a:srgbClr val="FFFFFF"/>
                </a:solidFill>
                <a:latin typeface="Vazirmatn"/>
              </a:defRPr>
            </a:pPr>
            <a:r>
              <a:t>مارکێتینگ و پلانی بزنس</a:t>
            </a:r>
          </a:p>
          <a:p>
            <a:pPr algn="r">
              <a:spcBef>
                <a:spcPts val="400"/>
              </a:spcBef>
              <a:defRPr sz="1200">
                <a:solidFill>
                  <a:srgbClr val="D1D5DB"/>
                </a:solidFill>
                <a:latin typeface="Vazirmatn"/>
              </a:defRPr>
            </a:pPr>
            <a:r>
              <a:t>داڕشتنی کەمپینی فرۆشتن.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840480"/>
            <a:ext cx="329184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9776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کۆدی ئەپڵیکەیشن</a:t>
            </a:r>
          </a:p>
          <a:p>
            <a:pPr algn="r">
              <a:spcBef>
                <a:spcPts val="400"/>
              </a:spcBef>
              <a:defRPr sz="1500" b="1">
                <a:solidFill>
                  <a:srgbClr val="FFFFFF"/>
                </a:solidFill>
                <a:latin typeface="Vazirmatn"/>
              </a:defRPr>
            </a:pPr>
            <a:r>
              <a:t>کۆدی ئەپڵیکەیشن</a:t>
            </a:r>
          </a:p>
          <a:p>
            <a:pPr algn="r">
              <a:spcBef>
                <a:spcPts val="400"/>
              </a:spcBef>
              <a:defRPr sz="1200">
                <a:solidFill>
                  <a:srgbClr val="D1D5DB"/>
                </a:solidFill>
                <a:latin typeface="Vazirmatn"/>
              </a:defRPr>
            </a:pPr>
            <a:r>
              <a:t>نووسین و دەپلووی کۆد بە Flutter.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840480"/>
            <a:ext cx="329184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39776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وێنە و ڤیدیۆ</a:t>
            </a:r>
          </a:p>
          <a:p>
            <a:pPr algn="r">
              <a:spcBef>
                <a:spcPts val="400"/>
              </a:spcBef>
              <a:defRPr sz="1500" b="1">
                <a:solidFill>
                  <a:srgbClr val="FFFFFF"/>
                </a:solidFill>
                <a:latin typeface="Vazirmatn"/>
              </a:defRPr>
            </a:pPr>
            <a:r>
              <a:t>دروستکردنی میدیا</a:t>
            </a:r>
          </a:p>
          <a:p>
            <a:pPr algn="r">
              <a:spcBef>
                <a:spcPts val="400"/>
              </a:spcBef>
              <a:defRPr sz="1200">
                <a:solidFill>
                  <a:srgbClr val="D1D5DB"/>
                </a:solidFill>
                <a:latin typeface="Vazirmatn"/>
              </a:defRPr>
            </a:pPr>
            <a:r>
              <a:t>وێنە و ڤیدیۆ بە پرۆمپت.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i_doc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0" y="320040"/>
            <a:ext cx="4873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B6D4"/>
                </a:solidFill>
                <a:latin typeface="Vazirmatn"/>
              </a:defRPr>
            </a:pPr>
            <a:r>
              <a:t>« دەبێت کۆمپیوتەر بتوانێت بیربکاتەوە؟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6B6D4"/>
                </a:solidFill>
                <a:latin typeface="Vazirmatn"/>
              </a:defRPr>
            </a:pPr>
            <a:r>
              <a:t>نموونەی پرۆمپتی دێمۆکان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600" b="1">
                <a:solidFill>
                  <a:srgbClr val="FFFFFF"/>
                </a:solidFill>
                <a:latin typeface="Vazirmatn"/>
              </a:defRPr>
            </a:pPr>
            <a:r>
              <a:t>بانکی پرۆمپت بۆ دێمۆ ڕاستەوخۆکان (کارمەند، پلان، دیزاین و فێرکاری)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CA3AF"/>
                </a:solidFill>
                <a:latin typeface="Vazirmatn"/>
              </a:defRPr>
            </a:pPr>
            <a:r>
              <a:t>کۆرسی ژیری دەستکرد  •  سلاید 23 لە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29184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١. کورتکردنەوەی PDF</a:t>
            </a:r>
          </a:p>
          <a:p>
            <a:pPr algn="r">
              <a:spcBef>
                <a:spcPts val="400"/>
              </a:spcBef>
              <a:defRPr sz="1500" b="1">
                <a:solidFill>
                  <a:srgbClr val="FFFFFF"/>
                </a:solidFill>
                <a:latin typeface="Vazirmatn"/>
              </a:defRPr>
            </a:pPr>
            <a:r>
              <a:t>کورتکردنەوەی فایلی درێژ</a:t>
            </a:r>
          </a:p>
          <a:p>
            <a:pPr algn="r">
              <a:spcBef>
                <a:spcPts val="400"/>
              </a:spcBef>
              <a:defRPr sz="1200">
                <a:solidFill>
                  <a:srgbClr val="D1D5DB"/>
                </a:solidFill>
                <a:latin typeface="Vazirmatn"/>
              </a:defRPr>
            </a:pPr>
            <a:r>
              <a:t>«تۆ شیکەرەوەی فایلی پی دی ئێفیت. ئەم فایلە بە تەواوی بخوێنەرەوە و کورت بکەرەوە بە شێوازی ٥ خاڵی سەرەکی بە کوردی...»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78308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٢. ئیمەیلی فەرمی</a:t>
            </a:r>
          </a:p>
          <a:p>
            <a:pPr algn="r">
              <a:spcBef>
                <a:spcPts val="400"/>
              </a:spcBef>
              <a:defRPr sz="1500" b="1">
                <a:solidFill>
                  <a:srgbClr val="FFFFFF"/>
                </a:solidFill>
                <a:latin typeface="Vazirmatn"/>
              </a:defRPr>
            </a:pPr>
            <a:r>
              <a:t>نووسینی ئیمەیل</a:t>
            </a:r>
          </a:p>
          <a:p>
            <a:pPr algn="r">
              <a:spcBef>
                <a:spcPts val="400"/>
              </a:spcBef>
              <a:defRPr sz="1200">
                <a:solidFill>
                  <a:srgbClr val="D1D5DB"/>
                </a:solidFill>
                <a:latin typeface="Vazirmatn"/>
              </a:defRPr>
            </a:pPr>
            <a:r>
              <a:t>«تۆ نووسەری ئیمەیلی فەرمیت. نامەیەکی فەرمی بە کوردی بۆ دواخستنی کاتی کۆبوونەوە بنووسە لەگەڵ هۆکارەکە بە کورتی...»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78308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٣. پاوەرپۆینت</a:t>
            </a:r>
          </a:p>
          <a:p>
            <a:pPr algn="r">
              <a:spcBef>
                <a:spcPts val="400"/>
              </a:spcBef>
              <a:defRPr sz="1500" b="1">
                <a:solidFill>
                  <a:srgbClr val="FFFFFF"/>
                </a:solidFill>
                <a:latin typeface="Vazirmatn"/>
              </a:defRPr>
            </a:pPr>
            <a:r>
              <a:t>سڵایدی خۆکار</a:t>
            </a:r>
          </a:p>
          <a:p>
            <a:pPr algn="r">
              <a:spcBef>
                <a:spcPts val="400"/>
              </a:spcBef>
              <a:defRPr sz="1200">
                <a:solidFill>
                  <a:srgbClr val="D1D5DB"/>
                </a:solidFill>
                <a:latin typeface="Vazirmatn"/>
              </a:defRPr>
            </a:pPr>
            <a:r>
              <a:t>«تۆ پسپۆڕی سڵایدەکانت. بابەتێکی کورت بکەرەوە بۆ نووسینی دەقی ٥ سڵایدی پاوەرپۆینت بە ناونیشان و دەقی کورت بە کوردی...»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329184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776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٤. پلانی بزنس</a:t>
            </a:r>
          </a:p>
          <a:p>
            <a:pPr algn="r">
              <a:spcBef>
                <a:spcPts val="400"/>
              </a:spcBef>
              <a:defRPr sz="1500" b="1">
                <a:solidFill>
                  <a:srgbClr val="FFFFFF"/>
                </a:solidFill>
                <a:latin typeface="Vazirmatn"/>
              </a:defRPr>
            </a:pPr>
            <a:r>
              <a:t>پلانی کارکردن</a:t>
            </a:r>
          </a:p>
          <a:p>
            <a:pPr algn="r">
              <a:spcBef>
                <a:spcPts val="400"/>
              </a:spcBef>
              <a:defRPr sz="1200">
                <a:solidFill>
                  <a:srgbClr val="D1D5DB"/>
                </a:solidFill>
                <a:latin typeface="Vazirmatn"/>
              </a:defRPr>
            </a:pPr>
            <a:r>
              <a:t>«تۆ داڕێژەری پلانی ستراتیژی بازرگانیت. بیرۆکەی پرۆژەی [پرۆژەکە] شیتاڵ بکە بۆ دروستکردنی پلانی سەرەتایی کار بە کوردی...»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840480"/>
            <a:ext cx="329184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9776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٥. کۆدی ئەپڵیکەیشن</a:t>
            </a:r>
          </a:p>
          <a:p>
            <a:pPr algn="r">
              <a:spcBef>
                <a:spcPts val="400"/>
              </a:spcBef>
              <a:defRPr sz="1500" b="1">
                <a:solidFill>
                  <a:srgbClr val="FFFFFF"/>
                </a:solidFill>
                <a:latin typeface="Vazirmatn"/>
              </a:defRPr>
            </a:pPr>
            <a:r>
              <a:t>کۆدکردنی Flutter</a:t>
            </a:r>
          </a:p>
          <a:p>
            <a:pPr algn="r">
              <a:spcBef>
                <a:spcPts val="400"/>
              </a:spcBef>
              <a:defRPr sz="1200">
                <a:solidFill>
                  <a:srgbClr val="D1D5DB"/>
                </a:solidFill>
                <a:latin typeface="Vazirmatn"/>
              </a:defRPr>
            </a:pPr>
            <a:r>
              <a:t>«تۆ گەشەپێدەرێکی لێهاتووی Flutterیت. کۆدێکی پاک و کارا دروستبکە بۆ پیشاندانی لیستێک بە ListView.builder...»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840480"/>
            <a:ext cx="329184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39776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٦. وێنە &amp; ڤیدیۆ</a:t>
            </a:r>
          </a:p>
          <a:p>
            <a:pPr algn="r">
              <a:spcBef>
                <a:spcPts val="400"/>
              </a:spcBef>
              <a:defRPr sz="1500" b="1">
                <a:solidFill>
                  <a:srgbClr val="FFFFFF"/>
                </a:solidFill>
                <a:latin typeface="Vazirmatn"/>
              </a:defRPr>
            </a:pPr>
            <a:r>
              <a:t>میدیا بە پرۆمپت</a:t>
            </a:r>
          </a:p>
          <a:p>
            <a:pPr algn="r">
              <a:spcBef>
                <a:spcPts val="400"/>
              </a:spcBef>
              <a:defRPr sz="1200">
                <a:solidFill>
                  <a:srgbClr val="D1D5DB"/>
                </a:solidFill>
                <a:latin typeface="Vazirmatn"/>
              </a:defRPr>
            </a:pPr>
            <a:r>
              <a:t>«A cinematic shot of a futuristic classroom in Kurdistan, students interacting with 3D holograms, warm lighting, Unreal Engine 5 render...»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i_workflow_n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0" y="320040"/>
            <a:ext cx="4873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B6D4"/>
                </a:solidFill>
                <a:latin typeface="Vazirmatn"/>
              </a:defRPr>
            </a:pPr>
            <a:r>
              <a:t>« دەبێت کۆمپیوتەر بتوانێت بیربکاتەوە؟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6B6D4"/>
                </a:solidFill>
                <a:latin typeface="Vazirmatn"/>
              </a:defRPr>
            </a:pPr>
            <a:r>
              <a:t>دەرئەنجامی فێربوون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600" b="1">
                <a:solidFill>
                  <a:srgbClr val="FFFFFF"/>
                </a:solidFill>
                <a:latin typeface="Vazirmatn"/>
              </a:defRPr>
            </a:pPr>
            <a:r>
              <a:t>دەرئەنجام — ئێستا دەبێت چی فێربووبین؟ (هەنگاو بە هەنگاو)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CA3AF"/>
                </a:solidFill>
                <a:latin typeface="Vazirmatn"/>
              </a:defRPr>
            </a:pPr>
            <a:r>
              <a:t>کۆرسی ژیری دەستکرد  •  سلاید 24 لە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2468880" cy="34747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Vazirmatn"/>
              </a:defRPr>
            </a:pPr>
            <a:r>
              <a:t>هەنگاوی ١</a:t>
            </a:r>
          </a:p>
          <a:p>
            <a:pPr algn="ctr">
              <a:spcBef>
                <a:spcPts val="1000"/>
              </a:spcBef>
              <a:defRPr sz="1800" b="1">
                <a:solidFill>
                  <a:srgbClr val="FFFFFF"/>
                </a:solidFill>
                <a:latin typeface="Vazirmatn"/>
              </a:defRPr>
            </a:pPr>
            <a:r>
              <a:t> بیرۆکە</a:t>
            </a:r>
          </a:p>
          <a:p>
            <a:pPr algn="ctr">
              <a:spcBef>
                <a:spcPts val="1200"/>
              </a:spcBef>
              <a:defRPr sz="1400">
                <a:solidFill>
                  <a:srgbClr val="D1D5DB"/>
                </a:solidFill>
                <a:latin typeface="Vazirmatn"/>
              </a:defRPr>
            </a:pPr>
            <a:r>
              <a:t>پێش قسەکردن لەگەڵ AI، دەبێت بیرۆکە و ئامانجی ڕوونت هەبێت.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011680"/>
            <a:ext cx="2468880" cy="34747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19456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Vazirmatn"/>
              </a:defRPr>
            </a:pPr>
            <a:r>
              <a:t>هەنگاوی ٢</a:t>
            </a:r>
          </a:p>
          <a:p>
            <a:pPr algn="ctr">
              <a:spcBef>
                <a:spcPts val="1000"/>
              </a:spcBef>
              <a:defRPr sz="1800" b="1">
                <a:solidFill>
                  <a:srgbClr val="FFFFFF"/>
                </a:solidFill>
                <a:latin typeface="Vazirmatn"/>
              </a:defRPr>
            </a:pPr>
            <a:r>
              <a:t>پسپۆڕی</a:t>
            </a:r>
          </a:p>
          <a:p>
            <a:pPr algn="ctr">
              <a:spcBef>
                <a:spcPts val="1200"/>
              </a:spcBef>
              <a:defRPr sz="1400">
                <a:solidFill>
                  <a:srgbClr val="D1D5DB"/>
                </a:solidFill>
                <a:latin typeface="Vazirmatn"/>
              </a:defRPr>
            </a:pPr>
            <a:r>
              <a:t>بیرکردنەوەی قوتابی 🎓، مامۆستا 👨‍🏫، بزنس 💼، ئەندازیار 💻...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2468880" cy="34747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19456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Vazirmatn"/>
              </a:defRPr>
            </a:pPr>
            <a:r>
              <a:t>هەنگاوی ٣</a:t>
            </a:r>
          </a:p>
          <a:p>
            <a:pPr algn="ctr">
              <a:spcBef>
                <a:spcPts val="1000"/>
              </a:spcBef>
              <a:defRPr sz="1800" b="1">
                <a:solidFill>
                  <a:srgbClr val="FFFFFF"/>
                </a:solidFill>
                <a:latin typeface="Vazirmatn"/>
              </a:defRPr>
            </a:pPr>
            <a:r>
              <a:t>نووسینی پرۆمپت</a:t>
            </a:r>
          </a:p>
          <a:p>
            <a:pPr algn="ctr">
              <a:spcBef>
                <a:spcPts val="1200"/>
              </a:spcBef>
              <a:defRPr sz="1400">
                <a:solidFill>
                  <a:srgbClr val="D1D5DB"/>
                </a:solidFill>
                <a:latin typeface="Vazirmatn"/>
              </a:defRPr>
            </a:pPr>
            <a:r>
              <a:t>دانانی Role + Task + Context + Format + Tone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2011680"/>
            <a:ext cx="2468880" cy="34747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219456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Vazirmatn"/>
              </a:defRPr>
            </a:pPr>
            <a:r>
              <a:t>هەنگاوی ٤</a:t>
            </a:r>
          </a:p>
          <a:p>
            <a:pPr algn="ctr">
              <a:spcBef>
                <a:spcPts val="1000"/>
              </a:spcBef>
              <a:defRPr sz="1800" b="1">
                <a:solidFill>
                  <a:srgbClr val="FFFFFF"/>
                </a:solidFill>
                <a:latin typeface="Vazirmatn"/>
              </a:defRPr>
            </a:pPr>
            <a:r>
              <a:t>گفتوگۆ &amp; دەستکاری</a:t>
            </a:r>
          </a:p>
          <a:p>
            <a:pPr algn="ctr">
              <a:spcBef>
                <a:spcPts val="1200"/>
              </a:spcBef>
              <a:defRPr sz="1400">
                <a:solidFill>
                  <a:srgbClr val="D1D5DB"/>
                </a:solidFill>
                <a:latin typeface="Vazirmatn"/>
              </a:defRPr>
            </a:pPr>
            <a:r>
              <a:t>ناردنی پرۆمپت، پشکنینی مرۆیی و باشکردنی وەڵامەکە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ero_ai_fu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0" y="320040"/>
            <a:ext cx="4873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B6D4"/>
                </a:solidFill>
                <a:latin typeface="Vazirmatn"/>
              </a:defRPr>
            </a:pPr>
            <a:r>
              <a:t>« دەبێت کۆمپیوتەر بتوانێت بیربکاتەوە؟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CA3AF"/>
                </a:solidFill>
                <a:latin typeface="Vazirmatn"/>
              </a:defRPr>
            </a:pPr>
            <a:r>
              <a:t>کۆرسی ژیری دەستکرد  •  سلاید 25 لە 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914400"/>
            <a:ext cx="9994392" cy="50292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097280"/>
            <a:ext cx="944575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Vazirmatn"/>
              </a:defRPr>
            </a:pPr>
            <a:r>
              <a:t>داهاتووی ژیری دەستکرد &amp; پەیوەندی</a:t>
            </a:r>
          </a:p>
          <a:p>
            <a:pPr algn="ctr">
              <a:spcBef>
                <a:spcPts val="800"/>
              </a:spcBef>
              <a:defRPr sz="1600">
                <a:solidFill>
                  <a:srgbClr val="D1D5DB"/>
                </a:solidFill>
                <a:latin typeface="Vazirmatn"/>
              </a:defRPr>
            </a:pPr>
            <a:r>
              <a:t>سوپاس بۆ بەشداریتان لە کۆرسی ژیری دەستکرد (AI لە ژیانی ڕۆژانە و کاردا)</a:t>
            </a:r>
          </a:p>
          <a:p>
            <a:pPr algn="ctr">
              <a:spcBef>
                <a:spcPts val="1000"/>
              </a:spcBef>
              <a:defRPr sz="1600" b="1">
                <a:solidFill>
                  <a:srgbClr val="06B6D4"/>
                </a:solidFill>
                <a:latin typeface="Vazirmatn"/>
              </a:defRPr>
            </a:pPr>
            <a:r>
              <a:t>ئەندازیار عبدالرحمن اسماعیل</a:t>
            </a:r>
          </a:p>
          <a:p>
            <a:pPr algn="ctr">
              <a:spcBef>
                <a:spcPts val="800"/>
              </a:spcBef>
              <a:defRPr sz="1500">
                <a:solidFill>
                  <a:srgbClr val="FFFFFF"/>
                </a:solidFill>
                <a:latin typeface="Vazirmatn"/>
              </a:defRPr>
            </a:pPr>
            <a:r>
              <a:t>🔗 تێلیگرام (شەخسی): Aghay Andazyar (@Agha_ACE)</a:t>
            </a:r>
          </a:p>
          <a:p>
            <a:pPr algn="ctr">
              <a:spcBef>
                <a:spcPts val="800"/>
              </a:spcBef>
              <a:defRPr sz="1500">
                <a:solidFill>
                  <a:srgbClr val="FFFFFF"/>
                </a:solidFill>
                <a:latin typeface="Vazirmatn"/>
              </a:defRPr>
            </a:pPr>
            <a:r>
              <a:t>🔗 چەناڵی تێلیگرام: داهاتووی تەکنەلۆجیا</a:t>
            </a:r>
          </a:p>
          <a:p>
            <a:pPr algn="ctr">
              <a:spcBef>
                <a:spcPts val="800"/>
              </a:spcBef>
              <a:defRPr sz="1500">
                <a:solidFill>
                  <a:srgbClr val="FFFFFF"/>
                </a:solidFill>
                <a:latin typeface="Vazirmatn"/>
              </a:defRPr>
            </a:pPr>
            <a:r>
              <a:t>🔗 وەتس ئاپ: 07504342452 (+9647504342452)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